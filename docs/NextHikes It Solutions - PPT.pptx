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7" r:id="rId2"/>
    <p:sldId id="259" r:id="rId3"/>
    <p:sldId id="278" r:id="rId4"/>
    <p:sldId id="263" r:id="rId5"/>
    <p:sldId id="264" r:id="rId6"/>
    <p:sldId id="265" r:id="rId7"/>
    <p:sldId id="266" r:id="rId8"/>
    <p:sldId id="267" r:id="rId9"/>
    <p:sldId id="268" r:id="rId10"/>
    <p:sldId id="269" r:id="rId11"/>
    <p:sldId id="270" r:id="rId12"/>
    <p:sldId id="271" r:id="rId13"/>
    <p:sldId id="272" r:id="rId14"/>
    <p:sldId id="273" r:id="rId15"/>
    <p:sldId id="274" r:id="rId16"/>
    <p:sldId id="275" r:id="rId17"/>
    <p:sldId id="276" r:id="rId18"/>
    <p:sldId id="277" r:id="rId19"/>
    <p:sldId id="261" r:id="rId20"/>
    <p:sldId id="260" r:id="rId21"/>
    <p:sldId id="258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63840"/>
    <a:srgbClr val="7C241E"/>
    <a:srgbClr val="8BA1AE"/>
    <a:srgbClr val="DBE0E7"/>
    <a:srgbClr val="C0B2A4"/>
    <a:srgbClr val="6B252C"/>
    <a:srgbClr val="BCB1A8"/>
    <a:srgbClr val="695952"/>
    <a:srgbClr val="646B54"/>
    <a:srgbClr val="BC9A7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216"/>
    <p:restoredTop sz="94621"/>
  </p:normalViewPr>
  <p:slideViewPr>
    <p:cSldViewPr snapToGrid="0">
      <p:cViewPr varScale="1">
        <p:scale>
          <a:sx n="108" d="100"/>
          <a:sy n="108" d="100"/>
        </p:scale>
        <p:origin x="52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8D7D02-5F77-1D45-A545-616E724893AD}" type="datetimeFigureOut">
              <a:rPr lang="en-US" smtClean="0"/>
              <a:t>10/8/26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843D13-940B-C744-B223-698E138D68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83101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843D13-940B-C744-B223-698E138D68B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5663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843D13-940B-C744-B223-698E138D68B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01732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843D13-940B-C744-B223-698E138D68B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72412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843D13-940B-C744-B223-698E138D68B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70269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843D13-940B-C744-B223-698E138D68B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3156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843D13-940B-C744-B223-698E138D68BC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4141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FC8648-71C5-E8E5-9099-5545233AD6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461921-9D6E-2F65-0F85-2B773AB67C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811C72-7BBC-FE12-08C5-0B36B4EA67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77F99-6438-DE4D-91A7-929CD8B4E3C8}" type="datetimeFigureOut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DFFDE1-9DED-E0C3-BBF9-1E09D78EE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7C9F37-CF9A-7345-737A-F25A95395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D4D3D-D0FB-594B-9519-95FB01E766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1737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BB8A31-9145-D8A8-F289-1B74C35A6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94E1B4-52E6-20A8-5FAE-4A02DBB720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931747-46FF-7885-DCA7-584118975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77F99-6438-DE4D-91A7-929CD8B4E3C8}" type="datetimeFigureOut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EBF752-B8BA-1077-B297-B1F081F861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DDABAF-EB3B-6061-831A-A88A31689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D4D3D-D0FB-594B-9519-95FB01E766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29346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372FC-9EE5-151D-BF46-5A530FEF80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D60598-CECD-E831-398B-E77A61C041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85901B-0AE3-63D8-A0BD-E454222F96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77F99-6438-DE4D-91A7-929CD8B4E3C8}" type="datetimeFigureOut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D75F2F-E0EC-C6D9-7066-161F2E5EA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AA14E0-A645-A9AD-9FBA-256B1A9A3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D4D3D-D0FB-594B-9519-95FB01E766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4168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32CA4-AF72-14A5-6F31-2A6FC3320C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5D9323-8805-D943-74B5-A91E8531DF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33843A-9689-3EE9-8447-7E871952C0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F51047-DBA5-FD96-6168-C9C5861640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77F99-6438-DE4D-91A7-929CD8B4E3C8}" type="datetimeFigureOut">
              <a:rPr lang="en-US" smtClean="0"/>
              <a:t>10/8/26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CB9B30-8D19-199C-DB9E-9CF0BA5348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6E1170-2520-7627-B8BA-36D891A17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D4D3D-D0FB-594B-9519-95FB01E766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72109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D5013C-5607-E06A-39C6-263699FACE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FE79B7-D9F1-F17E-6F67-AA420AE4FB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6049F3-E4FE-C82E-4134-7067BD6D1E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2A9EABD-F04D-4FF2-68E2-87EC3FA539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CD5214B-69C2-816F-6E39-DBA32EFAA8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9B095F-4C31-9E7D-38A9-56AF6B472A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77F99-6438-DE4D-91A7-929CD8B4E3C8}" type="datetimeFigureOut">
              <a:rPr lang="en-US" smtClean="0"/>
              <a:t>10/8/26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066B9B4-1F57-BBBB-DBEE-DBACB9DBD4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0FE097-D396-591E-FF0E-DC3C15EFE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D4D3D-D0FB-594B-9519-95FB01E766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86964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34C748-6337-8E47-D613-81C8E23ED7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E19079-4F27-4D58-E189-10DABB748B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77F99-6438-DE4D-91A7-929CD8B4E3C8}" type="datetimeFigureOut">
              <a:rPr lang="en-US" smtClean="0"/>
              <a:t>10/8/26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701D62-BA1E-7C29-2884-F207A39DA1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25BA99-4178-4FFF-3873-3D7F3D3A8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D4D3D-D0FB-594B-9519-95FB01E766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1300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0FCF16-52AE-F332-FBD2-2383D1D914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77F99-6438-DE4D-91A7-929CD8B4E3C8}" type="datetimeFigureOut">
              <a:rPr lang="en-US" smtClean="0"/>
              <a:t>10/8/26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757690-F4D0-C059-4DDD-D8215BAF30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CC9C8A-06A2-E09C-3CEE-DAAA3CA6D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D4D3D-D0FB-594B-9519-95FB01E766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4577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0FE9B9-680B-0E6D-DB1C-568ADA0C3E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092520-ECF4-0189-AC22-0A5EDE5722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36E92F-FA45-ED4B-59D0-F83AA5CA23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2464F4-68B3-5E84-4812-2F8989795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77F99-6438-DE4D-91A7-929CD8B4E3C8}" type="datetimeFigureOut">
              <a:rPr lang="en-US" smtClean="0"/>
              <a:t>10/8/26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DB8C13-E6E1-0F4A-47A3-950CB9937B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B2A85D-329A-52D7-A8F7-4CA8D420C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D4D3D-D0FB-594B-9519-95FB01E766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67950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AABA7-D06C-DE45-34DF-2D112BEC1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A3BCB5A-3DDC-ACC8-5104-515B537C8F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444592-1F18-5E2A-9B75-7B57354E62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0026DD-BB73-A97E-FCE0-0394D294FF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77F99-6438-DE4D-91A7-929CD8B4E3C8}" type="datetimeFigureOut">
              <a:rPr lang="en-US" smtClean="0"/>
              <a:t>10/8/26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1E4C53-98B8-CDAA-2BAC-F04173E68A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A52F9C-B0ED-DCF9-2947-012BDE697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D4D3D-D0FB-594B-9519-95FB01E766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9132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72FB14-DB15-EE4F-44E7-CF742971F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4BFD2D-7D4A-90E6-6F51-1596E15940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A6B41A-C2CC-FA95-9A5B-21C8B03CD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77F99-6438-DE4D-91A7-929CD8B4E3C8}" type="datetimeFigureOut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5F7E81-FB5D-1F86-9559-39D8B9951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EED997-15DA-2C76-4657-F163567BE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D4D3D-D0FB-594B-9519-95FB01E766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5463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1FE3CBF-A660-0DA2-F3AB-6F30633592A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BC9A83-2D0D-7AF8-0548-8977F28BB0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D9E9F3-F668-4F03-A56D-B1F8F920F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77F99-6438-DE4D-91A7-929CD8B4E3C8}" type="datetimeFigureOut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5BFCAE-2810-2A0C-7599-B43059027F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7EE5F4-08B8-601C-F81D-119CD6224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D4D3D-D0FB-594B-9519-95FB01E766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54776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7A02AB3-904F-B15C-21DB-22CAEC03F0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7B7AF2-06A3-80F1-569B-CA52D41333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D62214-1EE1-85B5-1109-749A668CB1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177F99-6438-DE4D-91A7-929CD8B4E3C8}" type="datetimeFigureOut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4C2FD8-E104-5B31-F742-6C40869A1E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1D3000-9419-2580-573B-9777C5BFCA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6D4D3D-D0FB-594B-9519-95FB01E766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8864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22.emf"/><Relationship Id="rId4" Type="http://schemas.openxmlformats.org/officeDocument/2006/relationships/image" Target="../media/image21.emf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ithub.com/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0788A14-65F1-A5BB-56B0-E422FCFAC0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732" y="1437244"/>
            <a:ext cx="5975268" cy="398351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C1C6381-E7E6-D366-C8E6-244E5413161C}"/>
              </a:ext>
            </a:extLst>
          </p:cNvPr>
          <p:cNvSpPr txBox="1"/>
          <p:nvPr/>
        </p:nvSpPr>
        <p:spPr>
          <a:xfrm>
            <a:off x="6069106" y="2152411"/>
            <a:ext cx="636635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300" b="1" dirty="0" err="1">
                <a:solidFill>
                  <a:srgbClr val="263840"/>
                </a:solidFill>
                <a:latin typeface="Calibri" panose="020F0502020204030204" pitchFamily="34" charset="0"/>
                <a:ea typeface="Cambria" pitchFamily="34" charset="-122"/>
                <a:cs typeface="Calibri" panose="020F0502020204030204" pitchFamily="34" charset="0"/>
              </a:rPr>
              <a:t>TellCo</a:t>
            </a:r>
            <a:r>
              <a:rPr lang="en-US" sz="4300" b="1" dirty="0">
                <a:solidFill>
                  <a:srgbClr val="263840"/>
                </a:solidFill>
                <a:latin typeface="Calibri" panose="020F0502020204030204" pitchFamily="34" charset="0"/>
                <a:ea typeface="Cambria" pitchFamily="34" charset="-122"/>
                <a:cs typeface="Calibri" panose="020F0502020204030204" pitchFamily="34" charset="0"/>
              </a:rPr>
              <a:t> Acquisition Analysis</a:t>
            </a:r>
            <a:endParaRPr lang="en-US" sz="4300" dirty="0">
              <a:solidFill>
                <a:srgbClr val="26384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E6DC45-9E21-CDF3-59EB-FF325CDD0BAB}"/>
              </a:ext>
            </a:extLst>
          </p:cNvPr>
          <p:cNvSpPr txBox="1"/>
          <p:nvPr/>
        </p:nvSpPr>
        <p:spPr>
          <a:xfrm>
            <a:off x="6207128" y="2875685"/>
            <a:ext cx="62552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User analytics for an investment decision: overview, engagement, experience and satisfaction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DC3AC96-0E18-36FB-F6FE-870013FD5044}"/>
              </a:ext>
            </a:extLst>
          </p:cNvPr>
          <p:cNvSpPr txBox="1"/>
          <p:nvPr/>
        </p:nvSpPr>
        <p:spPr>
          <a:xfrm>
            <a:off x="6983824" y="3914087"/>
            <a:ext cx="40307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NextHikes</a:t>
            </a:r>
            <a:r>
              <a:rPr lang="en-US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IT Solutions   |   Srishti Sharma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C64E88F-ABCE-8673-22B4-8EDD112FDD65}"/>
              </a:ext>
            </a:extLst>
          </p:cNvPr>
          <p:cNvSpPr txBox="1"/>
          <p:nvPr/>
        </p:nvSpPr>
        <p:spPr>
          <a:xfrm>
            <a:off x="7714409" y="4375752"/>
            <a:ext cx="24590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150,001 rows × 55 fields</a:t>
            </a:r>
          </a:p>
        </p:txBody>
      </p:sp>
      <p:pic>
        <p:nvPicPr>
          <p:cNvPr id="11" name="Picture 2" descr="logo">
            <a:extLst>
              <a:ext uri="{FF2B5EF4-FFF2-40B4-BE49-F238E27FC236}">
                <a16:creationId xmlns:a16="http://schemas.microsoft.com/office/drawing/2014/main" id="{2621B88D-89A6-2E56-A4A4-BC407FF844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71858" y="-10886"/>
            <a:ext cx="1520142" cy="633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93396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logo">
            <a:extLst>
              <a:ext uri="{FF2B5EF4-FFF2-40B4-BE49-F238E27FC236}">
                <a16:creationId xmlns:a16="http://schemas.microsoft.com/office/drawing/2014/main" id="{B9293C24-2593-5E6A-6BB2-8B74EF59AB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71858" y="-10886"/>
            <a:ext cx="1520142" cy="633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0FB2533-7318-7590-F28A-A556FAE9F005}"/>
              </a:ext>
            </a:extLst>
          </p:cNvPr>
          <p:cNvSpPr txBox="1"/>
          <p:nvPr/>
        </p:nvSpPr>
        <p:spPr>
          <a:xfrm>
            <a:off x="1560076" y="63763"/>
            <a:ext cx="872488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b="1" dirty="0" err="1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TellCo</a:t>
            </a:r>
            <a:endParaRPr lang="en-US" sz="3600" b="1" dirty="0">
              <a:solidFill>
                <a:srgbClr val="26384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sz="3600" b="1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continue due diligence, not yet a buy or pass</a:t>
            </a:r>
            <a:endParaRPr lang="en-US" sz="3600" dirty="0">
              <a:solidFill>
                <a:srgbClr val="26384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F51D0D5-092C-ABDB-51CD-1366067CDE81}"/>
              </a:ext>
            </a:extLst>
          </p:cNvPr>
          <p:cNvSpPr txBox="1"/>
          <p:nvPr/>
        </p:nvSpPr>
        <p:spPr>
          <a:xfrm>
            <a:off x="1287130" y="1939538"/>
            <a:ext cx="2146423" cy="1877437"/>
          </a:xfrm>
          <a:prstGeom prst="rect">
            <a:avLst/>
          </a:prstGeom>
          <a:solidFill>
            <a:srgbClr val="DBE0E7"/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7C241E"/>
                </a:solidFill>
                <a:latin typeface="Calibri" panose="020F0502020204030204" pitchFamily="34" charset="0"/>
                <a:ea typeface="Cambria" pitchFamily="34" charset="-122"/>
                <a:cs typeface="Calibri" panose="020F0502020204030204" pitchFamily="34" charset="0"/>
              </a:rPr>
              <a:t>106,856 </a:t>
            </a:r>
          </a:p>
          <a:p>
            <a:r>
              <a:rPr lang="en-US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customers in the data (148,935 sessions)</a:t>
            </a:r>
          </a:p>
          <a:p>
            <a:endParaRPr lang="en-US" dirty="0">
              <a:solidFill>
                <a:srgbClr val="26384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100" dirty="0">
              <a:solidFill>
                <a:srgbClr val="26384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EB1F73D-3191-327E-29E0-BD53328804A8}"/>
              </a:ext>
            </a:extLst>
          </p:cNvPr>
          <p:cNvSpPr txBox="1"/>
          <p:nvPr/>
        </p:nvSpPr>
        <p:spPr>
          <a:xfrm>
            <a:off x="3776098" y="1939538"/>
            <a:ext cx="2146423" cy="1877437"/>
          </a:xfrm>
          <a:prstGeom prst="rect">
            <a:avLst/>
          </a:prstGeom>
          <a:solidFill>
            <a:srgbClr val="DBE0E7"/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7C241E"/>
                </a:solidFill>
                <a:latin typeface="Calibri" panose="020F0502020204030204" pitchFamily="34" charset="0"/>
                <a:ea typeface="Cambria" pitchFamily="34" charset="-122"/>
                <a:cs typeface="Calibri" panose="020F0502020204030204" pitchFamily="34" charset="0"/>
              </a:rPr>
              <a:t>22.8%</a:t>
            </a:r>
          </a:p>
          <a:p>
            <a:r>
              <a:rPr lang="en-US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 customers are High engagement, carrying about 37% of traffic</a:t>
            </a:r>
          </a:p>
          <a:p>
            <a:endParaRPr lang="en-US" sz="1100" dirty="0">
              <a:solidFill>
                <a:srgbClr val="26384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79335FB-5838-80FC-AD9F-407F54AF0146}"/>
              </a:ext>
            </a:extLst>
          </p:cNvPr>
          <p:cNvSpPr txBox="1"/>
          <p:nvPr/>
        </p:nvSpPr>
        <p:spPr>
          <a:xfrm>
            <a:off x="6265066" y="1939537"/>
            <a:ext cx="2146423" cy="1877437"/>
          </a:xfrm>
          <a:prstGeom prst="rect">
            <a:avLst/>
          </a:prstGeom>
          <a:solidFill>
            <a:srgbClr val="DBE0E7"/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7C241E"/>
                </a:solidFill>
                <a:latin typeface="Calibri" panose="020F0502020204030204" pitchFamily="34" charset="0"/>
                <a:ea typeface="Cambria" pitchFamily="34" charset="-122"/>
                <a:cs typeface="Calibri" panose="020F0502020204030204" pitchFamily="34" charset="0"/>
              </a:rPr>
              <a:t>40.4%</a:t>
            </a:r>
          </a:p>
          <a:p>
            <a:r>
              <a:rPr lang="en-US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 customers are in the low-throughput group</a:t>
            </a:r>
          </a:p>
          <a:p>
            <a:endParaRPr lang="en-US" dirty="0">
              <a:solidFill>
                <a:srgbClr val="26384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000" dirty="0">
              <a:solidFill>
                <a:srgbClr val="26384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58A3485-1E8B-CBDA-A578-68EF77895E44}"/>
              </a:ext>
            </a:extLst>
          </p:cNvPr>
          <p:cNvSpPr txBox="1"/>
          <p:nvPr/>
        </p:nvSpPr>
        <p:spPr>
          <a:xfrm>
            <a:off x="8754033" y="1939537"/>
            <a:ext cx="2146423" cy="1877437"/>
          </a:xfrm>
          <a:prstGeom prst="rect">
            <a:avLst/>
          </a:prstGeom>
          <a:solidFill>
            <a:srgbClr val="DBE0E7"/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7C241E"/>
                </a:solidFill>
                <a:latin typeface="Calibri" panose="020F0502020204030204" pitchFamily="34" charset="0"/>
                <a:ea typeface="Cambria" pitchFamily="34" charset="-122"/>
                <a:cs typeface="Calibri" panose="020F0502020204030204" pitchFamily="34" charset="0"/>
              </a:rPr>
              <a:t>19.2%</a:t>
            </a:r>
          </a:p>
          <a:p>
            <a:r>
              <a:rPr lang="en-US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high-traffic, low proxy score (20,548 customers)</a:t>
            </a:r>
          </a:p>
          <a:p>
            <a:endParaRPr lang="en-US" dirty="0">
              <a:solidFill>
                <a:srgbClr val="26384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100" dirty="0">
              <a:solidFill>
                <a:srgbClr val="26384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62C68B3-D3B3-DDE0-C64F-77ECAAA210B4}"/>
              </a:ext>
            </a:extLst>
          </p:cNvPr>
          <p:cNvSpPr txBox="1"/>
          <p:nvPr/>
        </p:nvSpPr>
        <p:spPr>
          <a:xfrm>
            <a:off x="396891" y="4305044"/>
            <a:ext cx="3574473" cy="2062103"/>
          </a:xfrm>
          <a:prstGeom prst="rect">
            <a:avLst/>
          </a:prstGeom>
          <a:solidFill>
            <a:srgbClr val="26384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RECOMMENDATION</a:t>
            </a:r>
          </a:p>
          <a:p>
            <a:pPr algn="ctr"/>
            <a:endParaRPr lang="en-US" b="1" dirty="0">
              <a:solidFill>
                <a:schemeClr val="accent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sz="2000" b="1" dirty="0">
                <a:solidFill>
                  <a:schemeClr val="bg1"/>
                </a:solidFill>
                <a:latin typeface="Calibri" panose="020F0502020204030204" pitchFamily="34" charset="0"/>
                <a:ea typeface="Cambria" pitchFamily="34" charset="-122"/>
                <a:cs typeface="Calibri" panose="020F0502020204030204" pitchFamily="34" charset="0"/>
              </a:rPr>
              <a:t>Continue due diligence</a:t>
            </a:r>
          </a:p>
          <a:p>
            <a:pPr algn="ctr"/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sz="1400" dirty="0">
                <a:solidFill>
                  <a:srgbClr val="8BA1A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 buy or pass call needs financial data this dataset does not contain.</a:t>
            </a:r>
          </a:p>
          <a:p>
            <a:pPr algn="ctr"/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3962AB6-AAAB-D5BA-71E5-487FEBD68744}"/>
              </a:ext>
            </a:extLst>
          </p:cNvPr>
          <p:cNvSpPr txBox="1"/>
          <p:nvPr/>
        </p:nvSpPr>
        <p:spPr>
          <a:xfrm>
            <a:off x="4039163" y="4305043"/>
            <a:ext cx="7755946" cy="2062103"/>
          </a:xfrm>
          <a:prstGeom prst="rect">
            <a:avLst/>
          </a:prstGeom>
          <a:solidFill>
            <a:srgbClr val="263840"/>
          </a:solidFill>
        </p:spPr>
        <p:txBody>
          <a:bodyPr wrap="square" rtlCol="0">
            <a:spAutoFit/>
          </a:bodyPr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Usage is real: Apple, Samsung and Huawei cover 90.25% of sessions, and </a:t>
            </a: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Gaming is about 87% of recorded volume, largely by construction</a:t>
            </a: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throughput gap is the one robust network finding.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 revenue, cost, churn, ARPU or survey fields exist, so no valuation or retention claim can be made.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Satisfaction here is a behavioral proxy, not measured satisfaction.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CDEFB5F-AB6E-979A-D313-4C0151D18EFE}"/>
              </a:ext>
            </a:extLst>
          </p:cNvPr>
          <p:cNvCxnSpPr/>
          <p:nvPr/>
        </p:nvCxnSpPr>
        <p:spPr>
          <a:xfrm>
            <a:off x="0" y="1370786"/>
            <a:ext cx="121920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31136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014ACB-BB48-9430-63C8-129D0FD71E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28688A9-76F9-F245-A208-A97BEBB2A4A8}"/>
              </a:ext>
            </a:extLst>
          </p:cNvPr>
          <p:cNvSpPr txBox="1"/>
          <p:nvPr/>
        </p:nvSpPr>
        <p:spPr>
          <a:xfrm>
            <a:off x="2068134" y="391404"/>
            <a:ext cx="80557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From 150,001 rows to 106,856 customers</a:t>
            </a:r>
            <a:endParaRPr lang="en-US" sz="3600" dirty="0">
              <a:solidFill>
                <a:srgbClr val="26384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58FEBB-666F-BEC8-043D-315C40EF19F4}"/>
              </a:ext>
            </a:extLst>
          </p:cNvPr>
          <p:cNvSpPr txBox="1"/>
          <p:nvPr/>
        </p:nvSpPr>
        <p:spPr>
          <a:xfrm>
            <a:off x="5724803" y="3181183"/>
            <a:ext cx="27156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Missing values in the raw data (%)</a:t>
            </a:r>
            <a:endParaRPr lang="en-US" sz="1400" dirty="0">
              <a:solidFill>
                <a:srgbClr val="26384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13A3868-494A-170E-5684-173D3FB36145}"/>
              </a:ext>
            </a:extLst>
          </p:cNvPr>
          <p:cNvSpPr txBox="1"/>
          <p:nvPr/>
        </p:nvSpPr>
        <p:spPr>
          <a:xfrm>
            <a:off x="4493049" y="1854893"/>
            <a:ext cx="2417413" cy="923330"/>
          </a:xfrm>
          <a:prstGeom prst="rect">
            <a:avLst/>
          </a:prstGeom>
          <a:solidFill>
            <a:srgbClr val="DBE0E7"/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263840"/>
                </a:solidFill>
                <a:latin typeface="Calibri" panose="020F0502020204030204" pitchFamily="34" charset="0"/>
                <a:ea typeface="Cambria" pitchFamily="34" charset="-122"/>
                <a:cs typeface="Calibri" panose="020F0502020204030204" pitchFamily="34" charset="0"/>
              </a:rPr>
              <a:t>150,001</a:t>
            </a:r>
          </a:p>
          <a:p>
            <a:endParaRPr lang="en-US" dirty="0">
              <a:solidFill>
                <a:srgbClr val="26384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 err="1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xDR</a:t>
            </a:r>
            <a:r>
              <a:rPr lang="en-US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rows in the raw file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E054174-6FE6-5E06-BE86-A10B68340A55}"/>
              </a:ext>
            </a:extLst>
          </p:cNvPr>
          <p:cNvSpPr txBox="1"/>
          <p:nvPr/>
        </p:nvSpPr>
        <p:spPr>
          <a:xfrm>
            <a:off x="7052620" y="1840413"/>
            <a:ext cx="2417413" cy="923330"/>
          </a:xfrm>
          <a:prstGeom prst="rect">
            <a:avLst/>
          </a:prstGeom>
          <a:solidFill>
            <a:srgbClr val="DBE0E7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263840"/>
                </a:solidFill>
                <a:latin typeface="Calibri" panose="020F0502020204030204" pitchFamily="34" charset="0"/>
                <a:ea typeface="Cambria" pitchFamily="34" charset="-122"/>
                <a:cs typeface="Calibri" panose="020F0502020204030204" pitchFamily="34" charset="0"/>
              </a:rPr>
              <a:t>148,935</a:t>
            </a:r>
          </a:p>
          <a:p>
            <a:pPr algn="ctr"/>
            <a:r>
              <a:rPr lang="en-US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sessions with a customer ID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2FDA948-3A29-ACAF-330D-47B8BDF9A465}"/>
              </a:ext>
            </a:extLst>
          </p:cNvPr>
          <p:cNvSpPr txBox="1"/>
          <p:nvPr/>
        </p:nvSpPr>
        <p:spPr>
          <a:xfrm>
            <a:off x="9612191" y="1854893"/>
            <a:ext cx="2417413" cy="923330"/>
          </a:xfrm>
          <a:prstGeom prst="rect">
            <a:avLst/>
          </a:prstGeom>
          <a:solidFill>
            <a:srgbClr val="DBE0E7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263840"/>
                </a:solidFill>
                <a:latin typeface="Calibri" panose="020F0502020204030204" pitchFamily="34" charset="0"/>
                <a:ea typeface="Cambria" pitchFamily="34" charset="-122"/>
                <a:cs typeface="Calibri" panose="020F0502020204030204" pitchFamily="34" charset="0"/>
              </a:rPr>
              <a:t>106,856</a:t>
            </a:r>
          </a:p>
          <a:p>
            <a:pPr algn="ctr"/>
            <a:r>
              <a:rPr lang="en-US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customers (1.39 sessions each)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F11D5E4F-6595-54B0-7CD6-C4AFB61D6A6F}"/>
              </a:ext>
            </a:extLst>
          </p:cNvPr>
          <p:cNvCxnSpPr/>
          <p:nvPr/>
        </p:nvCxnSpPr>
        <p:spPr>
          <a:xfrm>
            <a:off x="0" y="1370786"/>
            <a:ext cx="121920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Picture 2" descr="logo">
            <a:extLst>
              <a:ext uri="{FF2B5EF4-FFF2-40B4-BE49-F238E27FC236}">
                <a16:creationId xmlns:a16="http://schemas.microsoft.com/office/drawing/2014/main" id="{40A95C2F-C5D2-202F-565A-A86C67816B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71858" y="-10886"/>
            <a:ext cx="1520142" cy="633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F6FB0FC-ECA2-13B1-7E94-AB2A1321B0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7204" y="3607702"/>
            <a:ext cx="7772400" cy="277585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A92D612-3210-7FE6-3BB7-8AF7D53C0DC8}"/>
              </a:ext>
            </a:extLst>
          </p:cNvPr>
          <p:cNvSpPr txBox="1"/>
          <p:nvPr/>
        </p:nvSpPr>
        <p:spPr>
          <a:xfrm>
            <a:off x="167680" y="2302078"/>
            <a:ext cx="3947366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  <a:buSzPct val="100000"/>
            </a:pPr>
            <a:r>
              <a:rPr lang="en-US" sz="2400" b="1" dirty="0">
                <a:solidFill>
                  <a:srgbClr val="263840"/>
                </a:solidFill>
                <a:latin typeface="Calibri" panose="020F0502020204030204" pitchFamily="34" charset="0"/>
                <a:ea typeface="Cambria" pitchFamily="34" charset="-122"/>
                <a:cs typeface="Calibri" panose="020F0502020204030204" pitchFamily="34" charset="0"/>
              </a:rPr>
              <a:t>Cleaning rules</a:t>
            </a:r>
            <a:endParaRPr lang="en-US" sz="2400" dirty="0">
              <a:solidFill>
                <a:srgbClr val="26384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Dropped 1,066 rows with no MSISDN (0.71% of rows and of traffic).</a:t>
            </a:r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Mean-imputed six network and HTTP columns, as the brief requires.</a:t>
            </a:r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Per-customer outliers beyond 1.5×IQR replaced with the non-outlier mean, as the brief requires: 16,033 customers (15.0%) changed.</a:t>
            </a:r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Bearer Id is not a session or customer key, so counts use MSISDN.</a:t>
            </a:r>
          </a:p>
        </p:txBody>
      </p:sp>
    </p:spTree>
    <p:extLst>
      <p:ext uri="{BB962C8B-B14F-4D97-AF65-F5344CB8AC3E}">
        <p14:creationId xmlns:p14="http://schemas.microsoft.com/office/powerpoint/2010/main" val="12895136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2815BD-CC9E-F764-A38B-F8EE4ED8E3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96C72CC-9E69-1026-421F-7F53CCE156BA}"/>
              </a:ext>
            </a:extLst>
          </p:cNvPr>
          <p:cNvSpPr txBox="1"/>
          <p:nvPr/>
        </p:nvSpPr>
        <p:spPr>
          <a:xfrm>
            <a:off x="316277" y="357014"/>
            <a:ext cx="115594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Four data-quality findings shape every result</a:t>
            </a:r>
            <a:endParaRPr lang="en-US" sz="4800" dirty="0">
              <a:solidFill>
                <a:srgbClr val="26384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8E6695B-1757-4919-494C-4579879A89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1754536"/>
              </p:ext>
            </p:extLst>
          </p:nvPr>
        </p:nvGraphicFramePr>
        <p:xfrm>
          <a:off x="7347018" y="2606230"/>
          <a:ext cx="4129684" cy="24688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32421">
                  <a:extLst>
                    <a:ext uri="{9D8B030D-6E8A-4147-A177-3AD203B41FA5}">
                      <a16:colId xmlns:a16="http://schemas.microsoft.com/office/drawing/2014/main" val="2095124403"/>
                    </a:ext>
                  </a:extLst>
                </a:gridCol>
                <a:gridCol w="1032421">
                  <a:extLst>
                    <a:ext uri="{9D8B030D-6E8A-4147-A177-3AD203B41FA5}">
                      <a16:colId xmlns:a16="http://schemas.microsoft.com/office/drawing/2014/main" val="2589925155"/>
                    </a:ext>
                  </a:extLst>
                </a:gridCol>
                <a:gridCol w="1032421">
                  <a:extLst>
                    <a:ext uri="{9D8B030D-6E8A-4147-A177-3AD203B41FA5}">
                      <a16:colId xmlns:a16="http://schemas.microsoft.com/office/drawing/2014/main" val="3510156813"/>
                    </a:ext>
                  </a:extLst>
                </a:gridCol>
                <a:gridCol w="1032421">
                  <a:extLst>
                    <a:ext uri="{9D8B030D-6E8A-4147-A177-3AD203B41FA5}">
                      <a16:colId xmlns:a16="http://schemas.microsoft.com/office/drawing/2014/main" val="9486092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Metric</a:t>
                      </a:r>
                      <a:endParaRPr lang="en-US" sz="1200" dirty="0"/>
                    </a:p>
                  </a:txBody>
                  <a:tcPr anchor="ctr">
                    <a:solidFill>
                      <a:srgbClr val="8BA1A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Raw</a:t>
                      </a:r>
                      <a:endParaRPr lang="en-US" sz="1200" dirty="0"/>
                    </a:p>
                  </a:txBody>
                  <a:tcPr anchor="ctr">
                    <a:solidFill>
                      <a:srgbClr val="8BA1A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Mean-replaced (primary)</a:t>
                      </a:r>
                      <a:endParaRPr lang="en-US" sz="1200" dirty="0"/>
                    </a:p>
                  </a:txBody>
                  <a:tcPr anchor="ctr">
                    <a:solidFill>
                      <a:srgbClr val="8BA1A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IQR-capped</a:t>
                      </a:r>
                      <a:endParaRPr lang="en-US" sz="1200" dirty="0"/>
                    </a:p>
                  </a:txBody>
                  <a:tcPr anchor="ctr">
                    <a:solidFill>
                      <a:srgbClr val="8BA1A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62313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Gini (volume)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0.356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0.304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0.332</a:t>
                      </a:r>
                      <a:endParaRPr 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434538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Top 10% traffic share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25.9%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21.2%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23.1%</a:t>
                      </a:r>
                      <a:endParaRPr 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3737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Volume skew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2.27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0.61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0.81</a:t>
                      </a:r>
                      <a:endParaRPr 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660559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App-pair correlations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0.59–0.74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0.31–0.42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n/a</a:t>
                      </a:r>
                      <a:endParaRPr 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89066740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43F93F4-CA68-261A-A4AA-3DB73F0D82E1}"/>
              </a:ext>
            </a:extLst>
          </p:cNvPr>
          <p:cNvSpPr txBox="1"/>
          <p:nvPr/>
        </p:nvSpPr>
        <p:spPr>
          <a:xfrm>
            <a:off x="7383548" y="5326820"/>
            <a:ext cx="41296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Treatment lowers concentration and weakens correlations, so heavy-user questions need untreated figures.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E8BD9B-D3CC-FF5D-DDD8-78C322DFC97F}"/>
              </a:ext>
            </a:extLst>
          </p:cNvPr>
          <p:cNvSpPr txBox="1"/>
          <p:nvPr/>
        </p:nvSpPr>
        <p:spPr>
          <a:xfrm>
            <a:off x="7383548" y="2008424"/>
            <a:ext cx="40566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Treated versus untreated customer table</a:t>
            </a:r>
            <a:endParaRPr lang="en-US" dirty="0">
              <a:solidFill>
                <a:srgbClr val="26384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E730C75-4DC0-97F5-F97E-7A5C38B2A3C3}"/>
              </a:ext>
            </a:extLst>
          </p:cNvPr>
          <p:cNvSpPr txBox="1"/>
          <p:nvPr/>
        </p:nvSpPr>
        <p:spPr>
          <a:xfrm>
            <a:off x="387336" y="1913412"/>
            <a:ext cx="3017374" cy="2092881"/>
          </a:xfrm>
          <a:prstGeom prst="rect">
            <a:avLst/>
          </a:prstGeom>
          <a:solidFill>
            <a:srgbClr val="DBE0E7"/>
          </a:solidFill>
        </p:spPr>
        <p:txBody>
          <a:bodyPr wrap="square" rtlCol="0">
            <a:spAutoFit/>
          </a:bodyPr>
          <a:lstStyle/>
          <a:p>
            <a:endParaRPr lang="en-US" sz="2000" b="1" dirty="0">
              <a:solidFill>
                <a:srgbClr val="26384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b="1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One week, not a month</a:t>
            </a:r>
          </a:p>
          <a:p>
            <a:endParaRPr lang="en-US" dirty="0">
              <a:solidFill>
                <a:srgbClr val="26384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Every session ends 24–30 April 2019, and 98.92% started 23–29 April.</a:t>
            </a:r>
          </a:p>
          <a:p>
            <a:endParaRPr lang="en-US" dirty="0">
              <a:solidFill>
                <a:srgbClr val="26384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5C583B6-3D34-BD58-DAE3-A2F99FE87455}"/>
              </a:ext>
            </a:extLst>
          </p:cNvPr>
          <p:cNvSpPr txBox="1"/>
          <p:nvPr/>
        </p:nvSpPr>
        <p:spPr>
          <a:xfrm>
            <a:off x="3567374" y="1898024"/>
            <a:ext cx="3017374" cy="2108269"/>
          </a:xfrm>
          <a:prstGeom prst="rect">
            <a:avLst/>
          </a:prstGeom>
          <a:solidFill>
            <a:srgbClr val="DBE0E7"/>
          </a:solidFill>
        </p:spPr>
        <p:txBody>
          <a:bodyPr wrap="square" rtlCol="0">
            <a:spAutoFit/>
          </a:bodyPr>
          <a:lstStyle/>
          <a:p>
            <a:endParaRPr lang="en-US" sz="1200" b="1" dirty="0">
              <a:solidFill>
                <a:srgbClr val="26384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b="1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Mean replacement hides heavy users</a:t>
            </a:r>
          </a:p>
          <a:p>
            <a:endParaRPr lang="en-US" sz="1050" b="1" dirty="0">
              <a:solidFill>
                <a:srgbClr val="26384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15.0% of customers it changes carry 29.9% of raw traffic.</a:t>
            </a:r>
          </a:p>
          <a:p>
            <a:endParaRPr lang="en-US" sz="1100" dirty="0">
              <a:solidFill>
                <a:srgbClr val="26384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79BFEDF-3F6C-824E-7256-FF2A56244F85}"/>
              </a:ext>
            </a:extLst>
          </p:cNvPr>
          <p:cNvSpPr txBox="1"/>
          <p:nvPr/>
        </p:nvSpPr>
        <p:spPr>
          <a:xfrm>
            <a:off x="387336" y="4233023"/>
            <a:ext cx="3017374" cy="2139047"/>
          </a:xfrm>
          <a:prstGeom prst="rect">
            <a:avLst/>
          </a:prstGeom>
          <a:solidFill>
            <a:srgbClr val="DBE0E7"/>
          </a:solidFill>
        </p:spPr>
        <p:txBody>
          <a:bodyPr wrap="square" rtlCol="0">
            <a:spAutoFit/>
          </a:bodyPr>
          <a:lstStyle/>
          <a:p>
            <a:endParaRPr lang="en-US" sz="600" b="1" dirty="0">
              <a:solidFill>
                <a:srgbClr val="26384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b="1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App counters do not reconcile</a:t>
            </a:r>
          </a:p>
          <a:p>
            <a:endParaRPr lang="en-US" sz="600" dirty="0">
              <a:solidFill>
                <a:srgbClr val="26384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They sum to 185% of Total Data Volume: Total DL excludes Other DL, Total UL includes it.</a:t>
            </a:r>
          </a:p>
          <a:p>
            <a:endParaRPr lang="en-US" sz="600" dirty="0">
              <a:solidFill>
                <a:srgbClr val="26384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766B36F-58FB-570F-852E-621E5F303F2C}"/>
              </a:ext>
            </a:extLst>
          </p:cNvPr>
          <p:cNvSpPr txBox="1"/>
          <p:nvPr/>
        </p:nvSpPr>
        <p:spPr>
          <a:xfrm>
            <a:off x="3567374" y="4233023"/>
            <a:ext cx="3017374" cy="2085186"/>
          </a:xfrm>
          <a:prstGeom prst="rect">
            <a:avLst/>
          </a:prstGeom>
          <a:solidFill>
            <a:srgbClr val="DBE0E7"/>
          </a:solidFill>
        </p:spPr>
        <p:txBody>
          <a:bodyPr wrap="square" rtlCol="0">
            <a:spAutoFit/>
          </a:bodyPr>
          <a:lstStyle/>
          <a:p>
            <a:endParaRPr lang="en-US" sz="1050" b="1" dirty="0">
              <a:solidFill>
                <a:srgbClr val="26384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b="1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Duration is a bearer-open span</a:t>
            </a:r>
          </a:p>
          <a:p>
            <a:endParaRPr lang="en-US" sz="1100" dirty="0">
              <a:solidFill>
                <a:srgbClr val="26384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It is in seconds, not milliseconds. 17.17% of sessions last exactly 24 hours.</a:t>
            </a:r>
            <a:endParaRPr lang="en-US" sz="900" dirty="0">
              <a:solidFill>
                <a:srgbClr val="26384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200" dirty="0">
              <a:solidFill>
                <a:srgbClr val="26384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" name="Picture 2" descr="logo">
            <a:extLst>
              <a:ext uri="{FF2B5EF4-FFF2-40B4-BE49-F238E27FC236}">
                <a16:creationId xmlns:a16="http://schemas.microsoft.com/office/drawing/2014/main" id="{EB30AD44-5704-072D-ADB9-89723116B9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71858" y="-10886"/>
            <a:ext cx="1520142" cy="633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5F082A6-C5CC-5005-9CD8-515A2BA9009F}"/>
              </a:ext>
            </a:extLst>
          </p:cNvPr>
          <p:cNvCxnSpPr/>
          <p:nvPr/>
        </p:nvCxnSpPr>
        <p:spPr>
          <a:xfrm>
            <a:off x="0" y="1370786"/>
            <a:ext cx="121920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65584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5EC912-9F70-22CA-E698-5D8FB4C345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13989E8-D6E6-9D22-DC24-0C6F721A8031}"/>
              </a:ext>
            </a:extLst>
          </p:cNvPr>
          <p:cNvSpPr txBox="1"/>
          <p:nvPr/>
        </p:nvSpPr>
        <p:spPr>
          <a:xfrm>
            <a:off x="2612033" y="74529"/>
            <a:ext cx="696793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b="1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 home router leads handsets, </a:t>
            </a:r>
          </a:p>
          <a:p>
            <a:pPr algn="ctr"/>
            <a:r>
              <a:rPr lang="en-US" sz="3600" b="1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3600" b="1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then previous-generation iPhones</a:t>
            </a:r>
            <a:endParaRPr lang="en-US" sz="3600" b="1" dirty="0">
              <a:solidFill>
                <a:srgbClr val="26384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EC5652-D47F-BD35-36E5-135045760F84}"/>
              </a:ext>
            </a:extLst>
          </p:cNvPr>
          <p:cNvSpPr txBox="1"/>
          <p:nvPr/>
        </p:nvSpPr>
        <p:spPr>
          <a:xfrm>
            <a:off x="440268" y="1542224"/>
            <a:ext cx="70950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b="1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Top 10 by </a:t>
            </a:r>
            <a:r>
              <a:rPr lang="en-IN" sz="1400" b="1" dirty="0" err="1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xDR</a:t>
            </a:r>
            <a:r>
              <a:rPr lang="en-IN" sz="1400" b="1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sessions. </a:t>
            </a:r>
          </a:p>
          <a:p>
            <a:pPr algn="ctr"/>
            <a:r>
              <a:rPr lang="en-IN" sz="1400" b="1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'Unknown' (8,931 sessions, 6.0%) is a placeholder for missing handset data, not a device.</a:t>
            </a:r>
            <a:endParaRPr lang="en-US" sz="1400" b="1" dirty="0">
              <a:solidFill>
                <a:srgbClr val="26384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39B589-313F-86FF-C69E-AEC31C18C3E2}"/>
              </a:ext>
            </a:extLst>
          </p:cNvPr>
          <p:cNvSpPr txBox="1"/>
          <p:nvPr/>
        </p:nvSpPr>
        <p:spPr>
          <a:xfrm>
            <a:off x="8465039" y="1757615"/>
            <a:ext cx="3570344" cy="1754326"/>
          </a:xfrm>
          <a:prstGeom prst="rect">
            <a:avLst/>
          </a:prstGeom>
          <a:solidFill>
            <a:srgbClr val="DBE0E7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7C241E"/>
                </a:solidFill>
                <a:latin typeface="Calibri" panose="020F0502020204030204" pitchFamily="34" charset="0"/>
                <a:ea typeface="Cambria" pitchFamily="34" charset="-122"/>
                <a:cs typeface="Calibri" panose="020F0502020204030204" pitchFamily="34" charset="0"/>
              </a:rPr>
              <a:t>13.25%</a:t>
            </a:r>
            <a:endParaRPr lang="en-US" dirty="0">
              <a:solidFill>
                <a:srgbClr val="7C241E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lang="en-US" dirty="0">
              <a:solidFill>
                <a:srgbClr val="26384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 sessions are on the Huawei B528S-23A: 19,727 sessions, 10,615 customers (9.9%). It is a fixed-wireless router, not a phone.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C731B3-F061-7AA9-560F-4D1E0FC894D2}"/>
              </a:ext>
            </a:extLst>
          </p:cNvPr>
          <p:cNvSpPr txBox="1"/>
          <p:nvPr/>
        </p:nvSpPr>
        <p:spPr>
          <a:xfrm>
            <a:off x="8465039" y="3769085"/>
            <a:ext cx="3570344" cy="2739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263840"/>
                </a:solidFill>
                <a:latin typeface="Calibri" panose="020F0502020204030204" pitchFamily="34" charset="0"/>
                <a:ea typeface="Cambria" pitchFamily="34" charset="-122"/>
                <a:cs typeface="Calibri" panose="020F0502020204030204" pitchFamily="34" charset="0"/>
              </a:rPr>
              <a:t>Marketing hypotheses to test</a:t>
            </a:r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Treat the router as its own product line.</a:t>
            </a:r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IN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Previous-generation iPhones </a:t>
            </a:r>
            <a:r>
              <a:rPr lang="en-US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(6S, 6, 7, SE, 8) are the largest upgrade cohort; no current-generation device is in the top five.</a:t>
            </a:r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8,931 sessions (6.00%) have no usable handset identity.</a:t>
            </a:r>
          </a:p>
        </p:txBody>
      </p:sp>
      <p:pic>
        <p:nvPicPr>
          <p:cNvPr id="6" name="Picture 2" descr="logo">
            <a:extLst>
              <a:ext uri="{FF2B5EF4-FFF2-40B4-BE49-F238E27FC236}">
                <a16:creationId xmlns:a16="http://schemas.microsoft.com/office/drawing/2014/main" id="{1948E10B-6C1E-F44F-CD10-17F39C3806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71858" y="-10886"/>
            <a:ext cx="1520142" cy="633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4DB1090-36DD-E6D1-CD08-0666A181E1E5}"/>
              </a:ext>
            </a:extLst>
          </p:cNvPr>
          <p:cNvCxnSpPr/>
          <p:nvPr/>
        </p:nvCxnSpPr>
        <p:spPr>
          <a:xfrm>
            <a:off x="0" y="1370786"/>
            <a:ext cx="121920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A screenshot of a graph&#10;&#10;AI-generated content may be incorrect.">
            <a:extLst>
              <a:ext uri="{FF2B5EF4-FFF2-40B4-BE49-F238E27FC236}">
                <a16:creationId xmlns:a16="http://schemas.microsoft.com/office/drawing/2014/main" id="{E187A66D-7B7D-C29D-BB33-A16339ACFA5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44232"/>
          <a:stretch>
            <a:fillRect/>
          </a:stretch>
        </p:blipFill>
        <p:spPr>
          <a:xfrm>
            <a:off x="440267" y="2236881"/>
            <a:ext cx="7095067" cy="4240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5329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685AB-D025-079C-8F71-EB5243C83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191E944-43D6-553F-3B51-BC181870099D}"/>
              </a:ext>
            </a:extLst>
          </p:cNvPr>
          <p:cNvSpPr txBox="1"/>
          <p:nvPr/>
        </p:nvSpPr>
        <p:spPr>
          <a:xfrm>
            <a:off x="347680" y="320245"/>
            <a:ext cx="1197462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Three manufacturers cover 90.25% of sessions</a:t>
            </a:r>
            <a:endParaRPr lang="en-US" sz="4800" dirty="0">
              <a:solidFill>
                <a:srgbClr val="26384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510362-3BAC-75A5-2C09-60574ED103D1}"/>
              </a:ext>
            </a:extLst>
          </p:cNvPr>
          <p:cNvSpPr txBox="1"/>
          <p:nvPr/>
        </p:nvSpPr>
        <p:spPr>
          <a:xfrm>
            <a:off x="2094850" y="1385259"/>
            <a:ext cx="17375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Share of sessions (%)</a:t>
            </a:r>
            <a:endParaRPr lang="en-US" sz="1400" dirty="0">
              <a:solidFill>
                <a:srgbClr val="26384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AB935F-321B-A242-C3AE-A247BC610B89}"/>
              </a:ext>
            </a:extLst>
          </p:cNvPr>
          <p:cNvSpPr txBox="1"/>
          <p:nvPr/>
        </p:nvSpPr>
        <p:spPr>
          <a:xfrm>
            <a:off x="6334992" y="4601844"/>
            <a:ext cx="5635728" cy="1815882"/>
          </a:xfrm>
          <a:prstGeom prst="rect">
            <a:avLst/>
          </a:prstGeom>
          <a:solidFill>
            <a:srgbClr val="DBE0E7"/>
          </a:solidFill>
        </p:spPr>
        <p:txBody>
          <a:bodyPr wrap="square" rtlCol="0">
            <a:sp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endParaRPr lang="en-US" sz="1100" dirty="0">
              <a:solidFill>
                <a:srgbClr val="26384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Huawei's total is dominated by one router model.</a:t>
            </a:r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App mix is near-identical across the three brands: manufacturer explains usage intensity, not what people use.</a:t>
            </a:r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endParaRPr lang="en-US" sz="1050" dirty="0">
              <a:solidFill>
                <a:srgbClr val="26384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2A386A5-7FAD-9097-42F5-6E6F8D62D6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2691012"/>
              </p:ext>
            </p:extLst>
          </p:nvPr>
        </p:nvGraphicFramePr>
        <p:xfrm>
          <a:off x="6334993" y="2168258"/>
          <a:ext cx="5635728" cy="22250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39288">
                  <a:extLst>
                    <a:ext uri="{9D8B030D-6E8A-4147-A177-3AD203B41FA5}">
                      <a16:colId xmlns:a16="http://schemas.microsoft.com/office/drawing/2014/main" val="2095124403"/>
                    </a:ext>
                  </a:extLst>
                </a:gridCol>
                <a:gridCol w="939288">
                  <a:extLst>
                    <a:ext uri="{9D8B030D-6E8A-4147-A177-3AD203B41FA5}">
                      <a16:colId xmlns:a16="http://schemas.microsoft.com/office/drawing/2014/main" val="2589925155"/>
                    </a:ext>
                  </a:extLst>
                </a:gridCol>
                <a:gridCol w="939288">
                  <a:extLst>
                    <a:ext uri="{9D8B030D-6E8A-4147-A177-3AD203B41FA5}">
                      <a16:colId xmlns:a16="http://schemas.microsoft.com/office/drawing/2014/main" val="3510156813"/>
                    </a:ext>
                  </a:extLst>
                </a:gridCol>
                <a:gridCol w="939288">
                  <a:extLst>
                    <a:ext uri="{9D8B030D-6E8A-4147-A177-3AD203B41FA5}">
                      <a16:colId xmlns:a16="http://schemas.microsoft.com/office/drawing/2014/main" val="948609266"/>
                    </a:ext>
                  </a:extLst>
                </a:gridCol>
                <a:gridCol w="939288">
                  <a:extLst>
                    <a:ext uri="{9D8B030D-6E8A-4147-A177-3AD203B41FA5}">
                      <a16:colId xmlns:a16="http://schemas.microsoft.com/office/drawing/2014/main" val="1525224400"/>
                    </a:ext>
                  </a:extLst>
                </a:gridCol>
                <a:gridCol w="939288">
                  <a:extLst>
                    <a:ext uri="{9D8B030D-6E8A-4147-A177-3AD203B41FA5}">
                      <a16:colId xmlns:a16="http://schemas.microsoft.com/office/drawing/2014/main" val="37426711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Apple</a:t>
                      </a:r>
                      <a:endParaRPr lang="en-US" sz="1200" dirty="0"/>
                    </a:p>
                  </a:txBody>
                  <a:tcPr anchor="ctr">
                    <a:solidFill>
                      <a:srgbClr val="8BA1A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Sessions</a:t>
                      </a:r>
                      <a:endParaRPr lang="en-US" sz="1200" dirty="0"/>
                    </a:p>
                  </a:txBody>
                  <a:tcPr anchor="ctr">
                    <a:solidFill>
                      <a:srgbClr val="8BA1A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Samsung</a:t>
                      </a:r>
                      <a:endParaRPr lang="en-US" sz="1200" dirty="0"/>
                    </a:p>
                  </a:txBody>
                  <a:tcPr anchor="ctr">
                    <a:solidFill>
                      <a:srgbClr val="8BA1A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Sessions</a:t>
                      </a:r>
                      <a:endParaRPr lang="en-US" sz="1200" dirty="0"/>
                    </a:p>
                  </a:txBody>
                  <a:tcPr anchor="ctr">
                    <a:solidFill>
                      <a:srgbClr val="8BA1A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Huawei</a:t>
                      </a:r>
                      <a:endParaRPr lang="en-US" sz="1200" dirty="0"/>
                    </a:p>
                  </a:txBody>
                  <a:tcPr anchor="ctr">
                    <a:solidFill>
                      <a:srgbClr val="8BA1A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Sessions</a:t>
                      </a:r>
                      <a:endParaRPr lang="en-US" sz="1200" dirty="0"/>
                    </a:p>
                  </a:txBody>
                  <a:tcPr anchor="ctr">
                    <a:solidFill>
                      <a:srgbClr val="8BA1A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62313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iPhone 6S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9,413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Galaxy S8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4,480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B528S-23A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19,727</a:t>
                      </a:r>
                      <a:endParaRPr 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434538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iPhone 6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9,012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Galaxy A5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3,708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E5180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2,074</a:t>
                      </a:r>
                      <a:endParaRPr 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3737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iPhone 7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6,304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Galaxy J5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3,682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P20 Lite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2,018</a:t>
                      </a:r>
                      <a:endParaRPr 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660559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iPhone SE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5,176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Galaxy J3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3,464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P20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1,479</a:t>
                      </a:r>
                      <a:endParaRPr 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890667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iPhone 8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4,985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Galaxy S7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3,176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Y6 2018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997</a:t>
                      </a:r>
                      <a:endParaRPr 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27350531"/>
                  </a:ext>
                </a:extLst>
              </a:tr>
            </a:tbl>
          </a:graphicData>
        </a:graphic>
      </p:graphicFrame>
      <p:pic>
        <p:nvPicPr>
          <p:cNvPr id="6" name="Picture 2" descr="logo">
            <a:extLst>
              <a:ext uri="{FF2B5EF4-FFF2-40B4-BE49-F238E27FC236}">
                <a16:creationId xmlns:a16="http://schemas.microsoft.com/office/drawing/2014/main" id="{A4C03482-AC24-C36D-BE09-94105165FD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71858" y="-10886"/>
            <a:ext cx="1520142" cy="633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CDE92DA-60E7-9E89-BEE4-0519ABBCBFC0}"/>
              </a:ext>
            </a:extLst>
          </p:cNvPr>
          <p:cNvCxnSpPr/>
          <p:nvPr/>
        </p:nvCxnSpPr>
        <p:spPr>
          <a:xfrm>
            <a:off x="0" y="1370786"/>
            <a:ext cx="121920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A screenshot of a graph&#10;&#10;AI-generated content may be incorrect.">
            <a:extLst>
              <a:ext uri="{FF2B5EF4-FFF2-40B4-BE49-F238E27FC236}">
                <a16:creationId xmlns:a16="http://schemas.microsoft.com/office/drawing/2014/main" id="{B4AE24EF-5901-B97A-FDC1-4E609CACCEB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5457"/>
          <a:stretch>
            <a:fillRect/>
          </a:stretch>
        </p:blipFill>
        <p:spPr>
          <a:xfrm>
            <a:off x="221279" y="1742143"/>
            <a:ext cx="3199254" cy="2394156"/>
          </a:xfrm>
          <a:prstGeom prst="rect">
            <a:avLst/>
          </a:prstGeom>
        </p:spPr>
      </p:pic>
      <p:pic>
        <p:nvPicPr>
          <p:cNvPr id="12" name="Picture 11" descr="A graph with different colored bars&#10;&#10;AI-generated content may be incorrect.">
            <a:extLst>
              <a:ext uri="{FF2B5EF4-FFF2-40B4-BE49-F238E27FC236}">
                <a16:creationId xmlns:a16="http://schemas.microsoft.com/office/drawing/2014/main" id="{36D651F8-C441-E6FA-B320-7D4DBDD5EAB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2665"/>
          <a:stretch>
            <a:fillRect/>
          </a:stretch>
        </p:blipFill>
        <p:spPr>
          <a:xfrm>
            <a:off x="221279" y="4239149"/>
            <a:ext cx="5673630" cy="2527792"/>
          </a:xfrm>
          <a:prstGeom prst="rect">
            <a:avLst/>
          </a:prstGeom>
        </p:spPr>
      </p:pic>
      <p:pic>
        <p:nvPicPr>
          <p:cNvPr id="14" name="Picture 13" descr="A graph with different colored bars&#10;&#10;AI-generated content may be incorrect.">
            <a:extLst>
              <a:ext uri="{FF2B5EF4-FFF2-40B4-BE49-F238E27FC236}">
                <a16:creationId xmlns:a16="http://schemas.microsoft.com/office/drawing/2014/main" id="{448DEC6F-26A6-3BE9-916F-E215EF9976C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67102"/>
          <a:stretch>
            <a:fillRect/>
          </a:stretch>
        </p:blipFill>
        <p:spPr>
          <a:xfrm>
            <a:off x="3269511" y="1742143"/>
            <a:ext cx="2625398" cy="2394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37609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C26D07-ADF9-A811-21D2-0B5F00E430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1987114-6B39-AB9B-5408-F66C98EBE29D}"/>
              </a:ext>
            </a:extLst>
          </p:cNvPr>
          <p:cNvSpPr txBox="1"/>
          <p:nvPr/>
        </p:nvSpPr>
        <p:spPr>
          <a:xfrm>
            <a:off x="3378861" y="76917"/>
            <a:ext cx="590841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b="1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Gaming and Other </a:t>
            </a:r>
          </a:p>
          <a:p>
            <a:pPr algn="ctr"/>
            <a:r>
              <a:rPr lang="en-US" sz="3600" b="1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are 93.8% of the app counters</a:t>
            </a:r>
            <a:endParaRPr lang="en-US" sz="3600" dirty="0">
              <a:solidFill>
                <a:srgbClr val="26384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B28897-40DE-1D57-7E45-F182190D22EF}"/>
              </a:ext>
            </a:extLst>
          </p:cNvPr>
          <p:cNvSpPr txBox="1"/>
          <p:nvPr/>
        </p:nvSpPr>
        <p:spPr>
          <a:xfrm>
            <a:off x="415251" y="1787141"/>
            <a:ext cx="3547149" cy="4626908"/>
          </a:xfrm>
          <a:prstGeom prst="rect">
            <a:avLst/>
          </a:prstGeom>
          <a:solidFill>
            <a:srgbClr val="DBE0E7"/>
          </a:solidFill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  <a:buSzPct val="100000"/>
            </a:pPr>
            <a:r>
              <a:rPr lang="en-US" sz="2800" b="1" dirty="0">
                <a:solidFill>
                  <a:srgbClr val="263840"/>
                </a:solidFill>
                <a:latin typeface="Calibri" panose="020F0502020204030204" pitchFamily="34" charset="0"/>
                <a:ea typeface="Cambria" pitchFamily="34" charset="-122"/>
                <a:cs typeface="Calibri" panose="020F0502020204030204" pitchFamily="34" charset="0"/>
              </a:rPr>
              <a:t>How to read this</a:t>
            </a:r>
            <a:endParaRPr lang="en-US" sz="2800" dirty="0">
              <a:solidFill>
                <a:srgbClr val="26384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This is a share of the counter sum, not of total traffic.</a:t>
            </a:r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Top three named applications: Gaming, YouTube, Netflix.</a:t>
            </a:r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YouTube and Netflix have near-identical means and spreads, as do Gaming and Other, yet they correlate only 0.42 and 0.31.</a:t>
            </a:r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counters may be synthetic or evenly split: ask </a:t>
            </a:r>
            <a:r>
              <a:rPr lang="en-US" sz="2000" dirty="0" err="1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TellCo</a:t>
            </a:r>
            <a:r>
              <a:rPr lang="en-US" sz="2000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how they are defined.</a:t>
            </a:r>
          </a:p>
        </p:txBody>
      </p:sp>
      <p:pic>
        <p:nvPicPr>
          <p:cNvPr id="5" name="Picture 2" descr="logo">
            <a:extLst>
              <a:ext uri="{FF2B5EF4-FFF2-40B4-BE49-F238E27FC236}">
                <a16:creationId xmlns:a16="http://schemas.microsoft.com/office/drawing/2014/main" id="{B2D10AA0-3DE4-5D3E-3032-72BC110869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71858" y="-10886"/>
            <a:ext cx="1520142" cy="633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87726E0-0255-F788-6148-0ECA8B02EFE5}"/>
              </a:ext>
            </a:extLst>
          </p:cNvPr>
          <p:cNvCxnSpPr/>
          <p:nvPr/>
        </p:nvCxnSpPr>
        <p:spPr>
          <a:xfrm>
            <a:off x="0" y="1370786"/>
            <a:ext cx="121920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A graph with numbers and text&#10;&#10;AI-generated content may be incorrect.">
            <a:extLst>
              <a:ext uri="{FF2B5EF4-FFF2-40B4-BE49-F238E27FC236}">
                <a16:creationId xmlns:a16="http://schemas.microsoft.com/office/drawing/2014/main" id="{97C35913-BF53-36F7-B964-DBC850B01D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2961" y="1787141"/>
            <a:ext cx="7772400" cy="4663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61542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3554E1-EF2B-58A9-2250-1BEDBBA0AD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06858D-5D45-D6D0-7B41-717B2AA2887E}"/>
              </a:ext>
            </a:extLst>
          </p:cNvPr>
          <p:cNvSpPr txBox="1"/>
          <p:nvPr/>
        </p:nvSpPr>
        <p:spPr>
          <a:xfrm>
            <a:off x="2810485" y="85850"/>
            <a:ext cx="657103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b="1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Only Gaming tracks total volume;</a:t>
            </a:r>
          </a:p>
          <a:p>
            <a:pPr algn="ctr"/>
            <a:r>
              <a:rPr lang="en-US" sz="3600" b="1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usage is skewed</a:t>
            </a:r>
            <a:endParaRPr lang="en-US" sz="3600" dirty="0">
              <a:solidFill>
                <a:srgbClr val="26384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B9171E7-A531-930A-7D26-BA883AD110D9}"/>
              </a:ext>
            </a:extLst>
          </p:cNvPr>
          <p:cNvSpPr txBox="1"/>
          <p:nvPr/>
        </p:nvSpPr>
        <p:spPr>
          <a:xfrm>
            <a:off x="575732" y="4741287"/>
            <a:ext cx="11405373" cy="17748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Gaming is about 87% of total volume, so r = 0.983 is largely arithmetic.</a:t>
            </a:r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Per session, the other six apps fall to 0.056–0.090: they look heavy because customers connect often.</a:t>
            </a:r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Mean exceeds median on every measure: a few heavy customers pull averages up.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F9C0630-8629-4FCA-F558-199EB73A99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7166233"/>
              </p:ext>
            </p:extLst>
          </p:nvPr>
        </p:nvGraphicFramePr>
        <p:xfrm>
          <a:off x="7772400" y="2217980"/>
          <a:ext cx="4208705" cy="16560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41741">
                  <a:extLst>
                    <a:ext uri="{9D8B030D-6E8A-4147-A177-3AD203B41FA5}">
                      <a16:colId xmlns:a16="http://schemas.microsoft.com/office/drawing/2014/main" val="2589925155"/>
                    </a:ext>
                  </a:extLst>
                </a:gridCol>
                <a:gridCol w="841741">
                  <a:extLst>
                    <a:ext uri="{9D8B030D-6E8A-4147-A177-3AD203B41FA5}">
                      <a16:colId xmlns:a16="http://schemas.microsoft.com/office/drawing/2014/main" val="3510156813"/>
                    </a:ext>
                  </a:extLst>
                </a:gridCol>
                <a:gridCol w="841741">
                  <a:extLst>
                    <a:ext uri="{9D8B030D-6E8A-4147-A177-3AD203B41FA5}">
                      <a16:colId xmlns:a16="http://schemas.microsoft.com/office/drawing/2014/main" val="948609266"/>
                    </a:ext>
                  </a:extLst>
                </a:gridCol>
                <a:gridCol w="841741">
                  <a:extLst>
                    <a:ext uri="{9D8B030D-6E8A-4147-A177-3AD203B41FA5}">
                      <a16:colId xmlns:a16="http://schemas.microsoft.com/office/drawing/2014/main" val="1525224400"/>
                    </a:ext>
                  </a:extLst>
                </a:gridCol>
                <a:gridCol w="841741">
                  <a:extLst>
                    <a:ext uri="{9D8B030D-6E8A-4147-A177-3AD203B41FA5}">
                      <a16:colId xmlns:a16="http://schemas.microsoft.com/office/drawing/2014/main" val="37426711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Metric</a:t>
                      </a:r>
                      <a:endParaRPr lang="en-US" sz="1200" dirty="0"/>
                    </a:p>
                  </a:txBody>
                  <a:tcPr anchor="ctr">
                    <a:solidFill>
                      <a:srgbClr val="8BA1A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Mean</a:t>
                      </a:r>
                      <a:endParaRPr lang="en-US" sz="1200" dirty="0"/>
                    </a:p>
                  </a:txBody>
                  <a:tcPr anchor="ctr">
                    <a:solidFill>
                      <a:srgbClr val="8BA1A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Median</a:t>
                      </a:r>
                      <a:endParaRPr lang="en-US" sz="1200" dirty="0"/>
                    </a:p>
                  </a:txBody>
                  <a:tcPr anchor="ctr">
                    <a:solidFill>
                      <a:srgbClr val="8BA1A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CV</a:t>
                      </a:r>
                      <a:endParaRPr lang="en-US" sz="1200" dirty="0"/>
                    </a:p>
                  </a:txBody>
                  <a:tcPr anchor="ctr">
                    <a:solidFill>
                      <a:srgbClr val="8BA1A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Skew</a:t>
                      </a:r>
                      <a:endParaRPr lang="en-US" sz="1200" dirty="0"/>
                    </a:p>
                  </a:txBody>
                  <a:tcPr anchor="ctr">
                    <a:solidFill>
                      <a:srgbClr val="8BA1A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62313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Sessions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1.39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0.58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3.35</a:t>
                      </a:r>
                      <a:endParaRPr 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434538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Duration (s)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146,167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102,740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1.27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20.54</a:t>
                      </a:r>
                      <a:endParaRPr 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660559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Total data (MB)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691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618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0.71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2.27</a:t>
                      </a:r>
                      <a:endParaRPr 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27350531"/>
                  </a:ext>
                </a:extLst>
              </a:tr>
            </a:tbl>
          </a:graphicData>
        </a:graphic>
      </p:graphicFrame>
      <p:pic>
        <p:nvPicPr>
          <p:cNvPr id="6" name="Picture 2" descr="logo">
            <a:extLst>
              <a:ext uri="{FF2B5EF4-FFF2-40B4-BE49-F238E27FC236}">
                <a16:creationId xmlns:a16="http://schemas.microsoft.com/office/drawing/2014/main" id="{3B144C66-113D-EA5D-8261-1CD1AD78A4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71858" y="-10886"/>
            <a:ext cx="1520142" cy="633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5376E5F-AA67-6767-C655-D136CD03B6F3}"/>
              </a:ext>
            </a:extLst>
          </p:cNvPr>
          <p:cNvCxnSpPr/>
          <p:nvPr/>
        </p:nvCxnSpPr>
        <p:spPr>
          <a:xfrm>
            <a:off x="0" y="1370786"/>
            <a:ext cx="121920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1657BE73-45E4-6496-06D6-713585C86E92}"/>
              </a:ext>
            </a:extLst>
          </p:cNvPr>
          <p:cNvSpPr txBox="1"/>
          <p:nvPr/>
        </p:nvSpPr>
        <p:spPr>
          <a:xfrm>
            <a:off x="7900237" y="1801555"/>
            <a:ext cx="252601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Per customer, before treatment</a:t>
            </a:r>
            <a:endParaRPr lang="en-US" sz="1400" dirty="0">
              <a:solidFill>
                <a:srgbClr val="26384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" name="Picture 9" descr="A screenshot of a graph&#10;&#10;AI-generated content may be incorrect.">
            <a:extLst>
              <a:ext uri="{FF2B5EF4-FFF2-40B4-BE49-F238E27FC236}">
                <a16:creationId xmlns:a16="http://schemas.microsoft.com/office/drawing/2014/main" id="{7F97D84B-17A5-1F5B-00CC-0C9F90C5D0E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2070"/>
          <a:stretch>
            <a:fillRect/>
          </a:stretch>
        </p:blipFill>
        <p:spPr>
          <a:xfrm>
            <a:off x="0" y="1455394"/>
            <a:ext cx="3725335" cy="3022599"/>
          </a:xfrm>
          <a:prstGeom prst="rect">
            <a:avLst/>
          </a:prstGeom>
        </p:spPr>
      </p:pic>
      <p:pic>
        <p:nvPicPr>
          <p:cNvPr id="11" name="Picture 10" descr="A screenshot of a graph&#10;&#10;AI-generated content may be incorrect.">
            <a:extLst>
              <a:ext uri="{FF2B5EF4-FFF2-40B4-BE49-F238E27FC236}">
                <a16:creationId xmlns:a16="http://schemas.microsoft.com/office/drawing/2014/main" id="{F80D99D2-7745-F5BC-65F6-0109E07D15E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8584" r="3486"/>
          <a:stretch>
            <a:fillRect/>
          </a:stretch>
        </p:blipFill>
        <p:spPr>
          <a:xfrm>
            <a:off x="3725335" y="1455393"/>
            <a:ext cx="3725335" cy="3022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69110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C118A8-0C24-0EAC-3E2E-8BE02AC6E8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B9E990F-F4BD-7427-949B-79252D93D503}"/>
              </a:ext>
            </a:extLst>
          </p:cNvPr>
          <p:cNvSpPr txBox="1"/>
          <p:nvPr/>
        </p:nvSpPr>
        <p:spPr>
          <a:xfrm>
            <a:off x="2388895" y="51517"/>
            <a:ext cx="741420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b="1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Top duration deciles carry more data, </a:t>
            </a:r>
          </a:p>
          <a:p>
            <a:pPr algn="ctr"/>
            <a:r>
              <a:rPr lang="en-US" sz="3600" b="1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not steadily</a:t>
            </a:r>
            <a:endParaRPr lang="en-US" sz="3600" dirty="0">
              <a:solidFill>
                <a:srgbClr val="26384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6017A1-0678-86E5-A022-B3118EC9E808}"/>
              </a:ext>
            </a:extLst>
          </p:cNvPr>
          <p:cNvSpPr txBox="1"/>
          <p:nvPr/>
        </p:nvSpPr>
        <p:spPr>
          <a:xfrm>
            <a:off x="8043340" y="1673447"/>
            <a:ext cx="3503661" cy="1538883"/>
          </a:xfrm>
          <a:prstGeom prst="rect">
            <a:avLst/>
          </a:prstGeom>
          <a:solidFill>
            <a:srgbClr val="DBE0E7"/>
          </a:solidFill>
        </p:spPr>
        <p:txBody>
          <a:bodyPr wrap="square" rtlCol="0">
            <a:spAutoFit/>
          </a:bodyPr>
          <a:lstStyle/>
          <a:p>
            <a:pPr algn="ctr"/>
            <a:endParaRPr lang="en-US" sz="2000" b="1" dirty="0">
              <a:solidFill>
                <a:srgbClr val="263840"/>
              </a:solidFill>
              <a:latin typeface="Calibri" panose="020F0502020204030204" pitchFamily="34" charset="0"/>
              <a:ea typeface="Cambria" pitchFamily="34" charset="-122"/>
              <a:cs typeface="Calibri" panose="020F0502020204030204" pitchFamily="34" charset="0"/>
            </a:endParaRPr>
          </a:p>
          <a:p>
            <a:pPr algn="ctr"/>
            <a:r>
              <a:rPr lang="en-US" sz="2000" b="1" dirty="0">
                <a:solidFill>
                  <a:srgbClr val="263840"/>
                </a:solidFill>
                <a:latin typeface="Calibri" panose="020F0502020204030204" pitchFamily="34" charset="0"/>
                <a:ea typeface="Cambria" pitchFamily="34" charset="-122"/>
                <a:cs typeface="Calibri" panose="020F0502020204030204" pitchFamily="34" charset="0"/>
              </a:rPr>
              <a:t>56.0%</a:t>
            </a:r>
            <a:endParaRPr lang="en-US" sz="2000" b="1" dirty="0">
              <a:solidFill>
                <a:srgbClr val="26384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 treated traffic sits in the top five deciles (60.4% raw)</a:t>
            </a:r>
          </a:p>
          <a:p>
            <a:pPr algn="ctr"/>
            <a:endParaRPr lang="en-US" dirty="0">
              <a:solidFill>
                <a:srgbClr val="26384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A582CF-DCFC-0F63-1B42-CE472CAD4127}"/>
              </a:ext>
            </a:extLst>
          </p:cNvPr>
          <p:cNvSpPr txBox="1"/>
          <p:nvPr/>
        </p:nvSpPr>
        <p:spPr>
          <a:xfrm>
            <a:off x="8043340" y="3331394"/>
            <a:ext cx="3503661" cy="1508105"/>
          </a:xfrm>
          <a:prstGeom prst="rect">
            <a:avLst/>
          </a:prstGeom>
          <a:solidFill>
            <a:srgbClr val="DBE0E7"/>
          </a:solidFill>
        </p:spPr>
        <p:txBody>
          <a:bodyPr wrap="square" rtlCol="0">
            <a:spAutoFit/>
          </a:bodyPr>
          <a:lstStyle/>
          <a:p>
            <a:pPr algn="ctr"/>
            <a:endParaRPr lang="en-US" sz="2600" b="1" dirty="0">
              <a:solidFill>
                <a:srgbClr val="263840"/>
              </a:solidFill>
              <a:latin typeface="Calibri" panose="020F0502020204030204" pitchFamily="34" charset="0"/>
              <a:ea typeface="Cambria" pitchFamily="34" charset="-122"/>
              <a:cs typeface="Calibri" panose="020F0502020204030204" pitchFamily="34" charset="0"/>
            </a:endParaRPr>
          </a:p>
          <a:p>
            <a:pPr algn="ctr"/>
            <a:r>
              <a:rPr lang="en-US" sz="2000" b="1" dirty="0">
                <a:solidFill>
                  <a:srgbClr val="263840"/>
                </a:solidFill>
                <a:latin typeface="Calibri" panose="020F0502020204030204" pitchFamily="34" charset="0"/>
                <a:ea typeface="Cambria" pitchFamily="34" charset="-122"/>
                <a:cs typeface="Calibri" panose="020F0502020204030204" pitchFamily="34" charset="0"/>
              </a:rPr>
              <a:t>20.13%</a:t>
            </a:r>
          </a:p>
          <a:p>
            <a:pPr algn="ctr"/>
            <a:r>
              <a:rPr lang="en-US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 raw traffic sits in decile 10 alone</a:t>
            </a:r>
          </a:p>
          <a:p>
            <a:pPr algn="ctr"/>
            <a:endParaRPr lang="en-US" sz="2800" dirty="0">
              <a:solidFill>
                <a:srgbClr val="26384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28F6495-4524-66EC-0344-30002EEBD1C5}"/>
              </a:ext>
            </a:extLst>
          </p:cNvPr>
          <p:cNvSpPr txBox="1"/>
          <p:nvPr/>
        </p:nvSpPr>
        <p:spPr>
          <a:xfrm>
            <a:off x="8043339" y="4958563"/>
            <a:ext cx="3503661" cy="1538883"/>
          </a:xfrm>
          <a:prstGeom prst="rect">
            <a:avLst/>
          </a:prstGeom>
          <a:solidFill>
            <a:srgbClr val="DBE0E7"/>
          </a:solidFill>
        </p:spPr>
        <p:txBody>
          <a:bodyPr wrap="square" rtlCol="0">
            <a:spAutoFit/>
          </a:bodyPr>
          <a:lstStyle/>
          <a:p>
            <a:pPr algn="ctr"/>
            <a:endParaRPr lang="en-US" sz="1000" b="1" dirty="0">
              <a:solidFill>
                <a:srgbClr val="263840"/>
              </a:solidFill>
              <a:latin typeface="Calibri" panose="020F0502020204030204" pitchFamily="34" charset="0"/>
              <a:ea typeface="Cambria" pitchFamily="34" charset="-122"/>
              <a:cs typeface="Calibri" panose="020F0502020204030204" pitchFamily="34" charset="0"/>
            </a:endParaRPr>
          </a:p>
          <a:p>
            <a:pPr algn="ctr"/>
            <a:r>
              <a:rPr lang="en-US" sz="2000" b="1" dirty="0">
                <a:solidFill>
                  <a:srgbClr val="263840"/>
                </a:solidFill>
                <a:latin typeface="Calibri" panose="020F0502020204030204" pitchFamily="34" charset="0"/>
                <a:ea typeface="Cambria" pitchFamily="34" charset="-122"/>
                <a:cs typeface="Calibri" panose="020F0502020204030204" pitchFamily="34" charset="0"/>
              </a:rPr>
              <a:t>75.4%</a:t>
            </a:r>
          </a:p>
          <a:p>
            <a:pPr algn="ctr"/>
            <a:r>
              <a:rPr lang="en-US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 true top-10% duration customers were replaced by the mean</a:t>
            </a:r>
          </a:p>
          <a:p>
            <a:pPr algn="ctr"/>
            <a:endParaRPr lang="en-US" sz="1000" dirty="0">
              <a:solidFill>
                <a:srgbClr val="26384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Picture 2" descr="logo">
            <a:extLst>
              <a:ext uri="{FF2B5EF4-FFF2-40B4-BE49-F238E27FC236}">
                <a16:creationId xmlns:a16="http://schemas.microsoft.com/office/drawing/2014/main" id="{D49665D7-5742-58A3-DA0C-85080C810E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71858" y="-10886"/>
            <a:ext cx="1520142" cy="633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8CD3D8E-18A4-CFCE-D98E-9B43991F94CE}"/>
              </a:ext>
            </a:extLst>
          </p:cNvPr>
          <p:cNvCxnSpPr/>
          <p:nvPr/>
        </p:nvCxnSpPr>
        <p:spPr>
          <a:xfrm>
            <a:off x="0" y="1370786"/>
            <a:ext cx="121920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A graph of a number of people&#10;&#10;AI-generated content may be incorrect.">
            <a:extLst>
              <a:ext uri="{FF2B5EF4-FFF2-40B4-BE49-F238E27FC236}">
                <a16:creationId xmlns:a16="http://schemas.microsoft.com/office/drawing/2014/main" id="{4F818526-9A29-E9BA-666B-DAF509E13A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531" y="4099021"/>
            <a:ext cx="5406520" cy="2703260"/>
          </a:xfrm>
          <a:prstGeom prst="rect">
            <a:avLst/>
          </a:prstGeom>
        </p:spPr>
      </p:pic>
      <p:pic>
        <p:nvPicPr>
          <p:cNvPr id="12" name="Picture 11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C2E01BD4-1C54-C244-61BA-A4D1D7837D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350" y="1489727"/>
            <a:ext cx="6880883" cy="2580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1016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924984-D1B7-5F37-EF47-A3EBCB7FC0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058DA8A-8986-7F84-7D24-5E58942D95CF}"/>
              </a:ext>
            </a:extLst>
          </p:cNvPr>
          <p:cNvSpPr txBox="1"/>
          <p:nvPr/>
        </p:nvSpPr>
        <p:spPr>
          <a:xfrm>
            <a:off x="3463773" y="69264"/>
            <a:ext cx="526445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b="1" dirty="0">
                <a:solidFill>
                  <a:srgbClr val="263840"/>
                </a:solidFill>
              </a:rPr>
              <a:t>One volume factor, </a:t>
            </a:r>
          </a:p>
          <a:p>
            <a:pPr algn="ctr"/>
            <a:r>
              <a:rPr lang="en-US" sz="3600" b="1" dirty="0">
                <a:solidFill>
                  <a:srgbClr val="263840"/>
                </a:solidFill>
              </a:rPr>
              <a:t>but only 45% of variance</a:t>
            </a:r>
            <a:endParaRPr lang="en-US" sz="3600" dirty="0">
              <a:solidFill>
                <a:srgbClr val="26384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F997C14-F3D8-B6F4-E497-78DEB4C7E1A4}"/>
              </a:ext>
            </a:extLst>
          </p:cNvPr>
          <p:cNvSpPr txBox="1"/>
          <p:nvPr/>
        </p:nvSpPr>
        <p:spPr>
          <a:xfrm>
            <a:off x="4987505" y="1489081"/>
            <a:ext cx="211897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rgbClr val="263840"/>
                </a:solidFill>
              </a:rPr>
              <a:t>PC1 loadings by application</a:t>
            </a:r>
            <a:endParaRPr lang="en-US" sz="1200" dirty="0">
              <a:solidFill>
                <a:srgbClr val="26384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47FDF3-C5EE-8822-DB21-7746AAB152FE}"/>
              </a:ext>
            </a:extLst>
          </p:cNvPr>
          <p:cNvSpPr txBox="1"/>
          <p:nvPr/>
        </p:nvSpPr>
        <p:spPr>
          <a:xfrm>
            <a:off x="109778" y="5305765"/>
            <a:ext cx="11972444" cy="1361911"/>
          </a:xfrm>
          <a:prstGeom prst="rect">
            <a:avLst/>
          </a:prstGeom>
          <a:solidFill>
            <a:srgbClr val="DBE0E7"/>
          </a:solidFill>
        </p:spPr>
        <p:txBody>
          <a:bodyPr wrap="square" rtlCol="0">
            <a:spAutoFit/>
          </a:bodyPr>
          <a:lstStyle/>
          <a:p>
            <a:endParaRPr lang="en-US" sz="1050" dirty="0">
              <a:solidFill>
                <a:srgbClr val="26384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PC1 explains 44.6% of variance and every app loads positively (0.36–0.40): an overall data-appetite factor.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PC2 contrasts Gaming (+0.86) with Other (−0.44). PC3 is mostly Other (+0.81).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Five components are needed for 80% and six for 90%, so compression is weak (KMO 0.88).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On untreated data PC1 is 70.7% and three components reach 80%: the weak compression is mostly a treatment effect.</a:t>
            </a:r>
          </a:p>
        </p:txBody>
      </p:sp>
      <p:pic>
        <p:nvPicPr>
          <p:cNvPr id="5" name="Picture 2" descr="logo">
            <a:extLst>
              <a:ext uri="{FF2B5EF4-FFF2-40B4-BE49-F238E27FC236}">
                <a16:creationId xmlns:a16="http://schemas.microsoft.com/office/drawing/2014/main" id="{546882EF-A28D-0779-8B2E-4520550904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71858" y="-10886"/>
            <a:ext cx="1520142" cy="633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6ECFCE0-8CEC-EFA4-C69B-2E94C9A800B7}"/>
              </a:ext>
            </a:extLst>
          </p:cNvPr>
          <p:cNvCxnSpPr/>
          <p:nvPr/>
        </p:nvCxnSpPr>
        <p:spPr>
          <a:xfrm>
            <a:off x="0" y="1370786"/>
            <a:ext cx="121920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A graph of a graph of a graph&#10;&#10;AI-generated content may be incorrect.">
            <a:extLst>
              <a:ext uri="{FF2B5EF4-FFF2-40B4-BE49-F238E27FC236}">
                <a16:creationId xmlns:a16="http://schemas.microsoft.com/office/drawing/2014/main" id="{BB44208C-2253-6A68-3A50-A9E059590F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320" y="1728782"/>
            <a:ext cx="10427348" cy="3475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01969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E9C7F9-B685-419E-4E0B-884A9BC3CB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27554E-4FCE-A3A3-0C97-C927045EDAB6}"/>
              </a:ext>
            </a:extLst>
          </p:cNvPr>
          <p:cNvSpPr txBox="1"/>
          <p:nvPr/>
        </p:nvSpPr>
        <p:spPr>
          <a:xfrm>
            <a:off x="3395451" y="92722"/>
            <a:ext cx="540109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Three engagement groups, </a:t>
            </a:r>
          </a:p>
          <a:p>
            <a:r>
              <a:rPr lang="en-US" sz="3600" b="1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but only one is truly high</a:t>
            </a:r>
            <a:endParaRPr lang="en-US" sz="3600" dirty="0">
              <a:solidFill>
                <a:srgbClr val="26384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11C51A3-C96B-FCE9-20FF-D9A00CB081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742946"/>
              </p:ext>
            </p:extLst>
          </p:nvPr>
        </p:nvGraphicFramePr>
        <p:xfrm>
          <a:off x="6212541" y="4282663"/>
          <a:ext cx="5942033" cy="2286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41821">
                  <a:extLst>
                    <a:ext uri="{9D8B030D-6E8A-4147-A177-3AD203B41FA5}">
                      <a16:colId xmlns:a16="http://schemas.microsoft.com/office/drawing/2014/main" val="2589925155"/>
                    </a:ext>
                  </a:extLst>
                </a:gridCol>
                <a:gridCol w="997978">
                  <a:extLst>
                    <a:ext uri="{9D8B030D-6E8A-4147-A177-3AD203B41FA5}">
                      <a16:colId xmlns:a16="http://schemas.microsoft.com/office/drawing/2014/main" val="3510156813"/>
                    </a:ext>
                  </a:extLst>
                </a:gridCol>
                <a:gridCol w="921619">
                  <a:extLst>
                    <a:ext uri="{9D8B030D-6E8A-4147-A177-3AD203B41FA5}">
                      <a16:colId xmlns:a16="http://schemas.microsoft.com/office/drawing/2014/main" val="948609266"/>
                    </a:ext>
                  </a:extLst>
                </a:gridCol>
                <a:gridCol w="894905">
                  <a:extLst>
                    <a:ext uri="{9D8B030D-6E8A-4147-A177-3AD203B41FA5}">
                      <a16:colId xmlns:a16="http://schemas.microsoft.com/office/drawing/2014/main" val="1525224400"/>
                    </a:ext>
                  </a:extLst>
                </a:gridCol>
                <a:gridCol w="661161">
                  <a:extLst>
                    <a:ext uri="{9D8B030D-6E8A-4147-A177-3AD203B41FA5}">
                      <a16:colId xmlns:a16="http://schemas.microsoft.com/office/drawing/2014/main" val="3742671180"/>
                    </a:ext>
                  </a:extLst>
                </a:gridCol>
                <a:gridCol w="601056">
                  <a:extLst>
                    <a:ext uri="{9D8B030D-6E8A-4147-A177-3AD203B41FA5}">
                      <a16:colId xmlns:a16="http://schemas.microsoft.com/office/drawing/2014/main" val="2469530368"/>
                    </a:ext>
                  </a:extLst>
                </a:gridCol>
                <a:gridCol w="723493">
                  <a:extLst>
                    <a:ext uri="{9D8B030D-6E8A-4147-A177-3AD203B41FA5}">
                      <a16:colId xmlns:a16="http://schemas.microsoft.com/office/drawing/2014/main" val="4742711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Group</a:t>
                      </a:r>
                      <a:endParaRPr lang="en-US" sz="1400" dirty="0"/>
                    </a:p>
                  </a:txBody>
                  <a:tcPr anchor="ctr">
                    <a:solidFill>
                      <a:srgbClr val="8BA1A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Customer</a:t>
                      </a:r>
                      <a:endParaRPr lang="en-US" sz="1400" dirty="0"/>
                    </a:p>
                  </a:txBody>
                  <a:tcPr anchor="ctr">
                    <a:solidFill>
                      <a:srgbClr val="8BA1A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Avg </a:t>
                      </a:r>
                    </a:p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sessions</a:t>
                      </a:r>
                      <a:endParaRPr lang="en-US" sz="1400" dirty="0"/>
                    </a:p>
                  </a:txBody>
                  <a:tcPr anchor="ctr">
                    <a:solidFill>
                      <a:srgbClr val="8BA1A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Avg </a:t>
                      </a:r>
                    </a:p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duration (s)</a:t>
                      </a:r>
                      <a:endParaRPr lang="en-US" sz="1400" dirty="0"/>
                    </a:p>
                  </a:txBody>
                  <a:tcPr anchor="ctr">
                    <a:solidFill>
                      <a:srgbClr val="8BA1A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Avg data (MB)</a:t>
                      </a:r>
                      <a:endParaRPr lang="en-US" sz="1400" dirty="0"/>
                    </a:p>
                  </a:txBody>
                  <a:tcPr anchor="ctr">
                    <a:solidFill>
                      <a:srgbClr val="8BA1A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Total (TB)</a:t>
                      </a:r>
                      <a:endParaRPr lang="en-US" sz="1400" dirty="0"/>
                    </a:p>
                  </a:txBody>
                  <a:tcPr anchor="ctr">
                    <a:solidFill>
                      <a:srgbClr val="8BA1A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Traffic share</a:t>
                      </a:r>
                      <a:endParaRPr lang="en-US" sz="1400" dirty="0"/>
                    </a:p>
                  </a:txBody>
                  <a:tcPr anchor="ctr">
                    <a:solidFill>
                      <a:srgbClr val="8BA1A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62313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Low engagement</a:t>
                      </a:r>
                      <a:endParaRPr lang="en-US" sz="14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57,834 (54.1%)</a:t>
                      </a:r>
                      <a:endParaRPr lang="en-US" sz="14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1.02</a:t>
                      </a:r>
                      <a:endParaRPr lang="en-US" sz="14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69,489</a:t>
                      </a:r>
                      <a:endParaRPr lang="en-US" sz="14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506</a:t>
                      </a:r>
                      <a:endParaRPr lang="en-US" sz="14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29.2</a:t>
                      </a:r>
                      <a:endParaRPr lang="en-US" sz="14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44.3%</a:t>
                      </a:r>
                      <a:endParaRPr lang="en-US" sz="1400" dirty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55401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Long-hold, light traffic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24,654 (23.1%)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1.03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172,768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491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12.1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18.3%</a:t>
                      </a:r>
                      <a:endParaRPr 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434538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High 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engagement</a:t>
                      </a:r>
                      <a:endParaRPr lang="en-US" sz="1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24,368 (22.8%)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2.17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161,850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1,011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24.6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37.3%</a:t>
                      </a:r>
                      <a:endParaRPr 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66055916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E3FD2D5D-1D71-C8B6-F83C-5AD2FA2CE9D6}"/>
              </a:ext>
            </a:extLst>
          </p:cNvPr>
          <p:cNvSpPr txBox="1"/>
          <p:nvPr/>
        </p:nvSpPr>
        <p:spPr>
          <a:xfrm>
            <a:off x="8292614" y="1833960"/>
            <a:ext cx="1897692" cy="1908215"/>
          </a:xfrm>
          <a:prstGeom prst="rect">
            <a:avLst/>
          </a:prstGeom>
          <a:solidFill>
            <a:srgbClr val="DBE0E7"/>
          </a:solidFill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263840"/>
                </a:solidFill>
                <a:latin typeface="Calibri" panose="020F0502020204030204" pitchFamily="34" charset="0"/>
                <a:ea typeface="Cambria" pitchFamily="34" charset="-122"/>
                <a:cs typeface="Calibri" panose="020F0502020204030204" pitchFamily="34" charset="0"/>
              </a:rPr>
              <a:t>Not a ladder</a:t>
            </a:r>
            <a:endParaRPr lang="en-US" sz="2000" dirty="0">
              <a:solidFill>
                <a:srgbClr val="26384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400" dirty="0">
              <a:solidFill>
                <a:srgbClr val="26384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400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first two groups have the same sessions and traffic, but the long-hold group's connections stay open about 2.5× longer.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7E5EFE-A327-C86E-CD36-CE4675A86A8B}"/>
              </a:ext>
            </a:extLst>
          </p:cNvPr>
          <p:cNvSpPr txBox="1"/>
          <p:nvPr/>
        </p:nvSpPr>
        <p:spPr>
          <a:xfrm>
            <a:off x="6328345" y="1830007"/>
            <a:ext cx="1897692" cy="1923604"/>
          </a:xfrm>
          <a:prstGeom prst="rect">
            <a:avLst/>
          </a:prstGeom>
          <a:solidFill>
            <a:srgbClr val="DBE0E7"/>
          </a:solidFill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263840"/>
                </a:solidFill>
                <a:latin typeface="Calibri" panose="020F0502020204030204" pitchFamily="34" charset="0"/>
                <a:ea typeface="Cambria" pitchFamily="34" charset="-122"/>
                <a:cs typeface="Calibri" panose="020F0502020204030204" pitchFamily="34" charset="0"/>
              </a:rPr>
              <a:t>High group leads</a:t>
            </a:r>
          </a:p>
          <a:p>
            <a:endParaRPr lang="en-US" sz="1400" dirty="0">
              <a:solidFill>
                <a:srgbClr val="26384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400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It leads on sessions and traffic, moving about 2× the data per customer.</a:t>
            </a:r>
          </a:p>
          <a:p>
            <a:r>
              <a:rPr lang="en-US" sz="800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C30C205-1BD7-AABD-6883-2E0083B3EEEA}"/>
              </a:ext>
            </a:extLst>
          </p:cNvPr>
          <p:cNvSpPr txBox="1"/>
          <p:nvPr/>
        </p:nvSpPr>
        <p:spPr>
          <a:xfrm>
            <a:off x="10256883" y="1830007"/>
            <a:ext cx="1897692" cy="1923604"/>
          </a:xfrm>
          <a:prstGeom prst="rect">
            <a:avLst/>
          </a:prstGeom>
          <a:solidFill>
            <a:srgbClr val="DBE0E7"/>
          </a:solidFill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263840"/>
                </a:solidFill>
                <a:latin typeface="Calibri" panose="020F0502020204030204" pitchFamily="34" charset="0"/>
                <a:ea typeface="Cambria" pitchFamily="34" charset="-122"/>
                <a:cs typeface="Calibri" panose="020F0502020204030204" pitchFamily="34" charset="0"/>
              </a:rPr>
              <a:t>Treat with caution</a:t>
            </a:r>
          </a:p>
          <a:p>
            <a:endParaRPr lang="en-US" sz="1400" dirty="0">
              <a:solidFill>
                <a:srgbClr val="26384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400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Duration is partly a system artefact: 17.17% of sessions last exactly 24 hours.</a:t>
            </a:r>
            <a:endParaRPr lang="en-US" sz="1200" dirty="0">
              <a:solidFill>
                <a:srgbClr val="26384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800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sz="700" dirty="0">
              <a:solidFill>
                <a:srgbClr val="26384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Picture 2" descr="logo">
            <a:extLst>
              <a:ext uri="{FF2B5EF4-FFF2-40B4-BE49-F238E27FC236}">
                <a16:creationId xmlns:a16="http://schemas.microsoft.com/office/drawing/2014/main" id="{C4B829AF-270D-319E-A79A-69216BAD0B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71858" y="-10886"/>
            <a:ext cx="1520142" cy="633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8760B2D-3EA8-337A-B4B6-CF86ADBDEEB6}"/>
              </a:ext>
            </a:extLst>
          </p:cNvPr>
          <p:cNvCxnSpPr/>
          <p:nvPr/>
        </p:nvCxnSpPr>
        <p:spPr>
          <a:xfrm>
            <a:off x="0" y="1370786"/>
            <a:ext cx="121920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Picture 11" descr="A graph of a bar chart&#10;&#10;AI-generated content may be incorrect.">
            <a:extLst>
              <a:ext uri="{FF2B5EF4-FFF2-40B4-BE49-F238E27FC236}">
                <a16:creationId xmlns:a16="http://schemas.microsoft.com/office/drawing/2014/main" id="{0777C6D2-0AF6-5756-9A71-2370265F262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33203"/>
          <a:stretch>
            <a:fillRect/>
          </a:stretch>
        </p:blipFill>
        <p:spPr>
          <a:xfrm>
            <a:off x="0" y="1448522"/>
            <a:ext cx="6095999" cy="2535067"/>
          </a:xfrm>
          <a:prstGeom prst="rect">
            <a:avLst/>
          </a:prstGeom>
        </p:spPr>
      </p:pic>
      <p:pic>
        <p:nvPicPr>
          <p:cNvPr id="13" name="Picture 12" descr="A graph of a bar chart&#10;&#10;AI-generated content may be incorrect.">
            <a:extLst>
              <a:ext uri="{FF2B5EF4-FFF2-40B4-BE49-F238E27FC236}">
                <a16:creationId xmlns:a16="http://schemas.microsoft.com/office/drawing/2014/main" id="{9D0380D6-A5B2-A134-DD8D-D2857858EC3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6051"/>
          <a:stretch>
            <a:fillRect/>
          </a:stretch>
        </p:blipFill>
        <p:spPr>
          <a:xfrm>
            <a:off x="0" y="3983589"/>
            <a:ext cx="3098800" cy="2535477"/>
          </a:xfrm>
          <a:prstGeom prst="rect">
            <a:avLst/>
          </a:prstGeom>
        </p:spPr>
      </p:pic>
      <p:pic>
        <p:nvPicPr>
          <p:cNvPr id="15" name="Picture 14" descr="A graph of a cluster&#10;&#10;AI-generated content may be incorrect.">
            <a:extLst>
              <a:ext uri="{FF2B5EF4-FFF2-40B4-BE49-F238E27FC236}">
                <a16:creationId xmlns:a16="http://schemas.microsoft.com/office/drawing/2014/main" id="{E29CB0A0-DF2B-9247-58EE-80C0275FED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7537" y="4282663"/>
            <a:ext cx="3099725" cy="1937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24330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57D625-A3F1-6F7A-E8A5-EF8184FD62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8D4592B-56D3-D15C-0250-14A028AAA2F3}"/>
              </a:ext>
            </a:extLst>
          </p:cNvPr>
          <p:cNvSpPr txBox="1"/>
          <p:nvPr/>
        </p:nvSpPr>
        <p:spPr>
          <a:xfrm>
            <a:off x="706607" y="342894"/>
            <a:ext cx="1077878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elbow points to k = 5; k = 2 validates best</a:t>
            </a:r>
            <a:endParaRPr lang="en-US" sz="4400" dirty="0">
              <a:solidFill>
                <a:srgbClr val="26384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49AB1D8-5DA9-E93E-C3DD-04C8BFA29E21}"/>
              </a:ext>
            </a:extLst>
          </p:cNvPr>
          <p:cNvSpPr txBox="1"/>
          <p:nvPr/>
        </p:nvSpPr>
        <p:spPr>
          <a:xfrm>
            <a:off x="1798781" y="1416002"/>
            <a:ext cx="21255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Within-cluster inertia by k</a:t>
            </a:r>
            <a:endParaRPr lang="en-US" sz="1400" dirty="0">
              <a:solidFill>
                <a:srgbClr val="26384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837842-10C3-4E5E-F2F7-10226E748A65}"/>
              </a:ext>
            </a:extLst>
          </p:cNvPr>
          <p:cNvSpPr txBox="1"/>
          <p:nvPr/>
        </p:nvSpPr>
        <p:spPr>
          <a:xfrm>
            <a:off x="7574976" y="1655894"/>
            <a:ext cx="4419600" cy="923330"/>
          </a:xfrm>
          <a:prstGeom prst="rect">
            <a:avLst/>
          </a:prstGeom>
          <a:solidFill>
            <a:srgbClr val="DBE0E7"/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Silhouette</a:t>
            </a:r>
          </a:p>
          <a:p>
            <a:r>
              <a:rPr lang="en-US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0.505 at k = 2 against 0.339 at k = 3: k = 2 is better on every validity metric.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9EDB04-4BB8-F504-1C52-8893448E7379}"/>
              </a:ext>
            </a:extLst>
          </p:cNvPr>
          <p:cNvSpPr txBox="1"/>
          <p:nvPr/>
        </p:nvSpPr>
        <p:spPr>
          <a:xfrm>
            <a:off x="7574976" y="2894598"/>
            <a:ext cx="4419600" cy="923330"/>
          </a:xfrm>
          <a:prstGeom prst="rect">
            <a:avLst/>
          </a:prstGeom>
          <a:solidFill>
            <a:srgbClr val="DBE0E7"/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Why k = 3 is reported</a:t>
            </a:r>
          </a:p>
          <a:p>
            <a:r>
              <a:rPr lang="en-US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brief requires it. k = 3 mostly splits the k = 2 low group by duration (ARI 0.525).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55D59F-BB00-A048-60E3-8D4A11D5C6AD}"/>
              </a:ext>
            </a:extLst>
          </p:cNvPr>
          <p:cNvSpPr txBox="1"/>
          <p:nvPr/>
        </p:nvSpPr>
        <p:spPr>
          <a:xfrm>
            <a:off x="7574976" y="4133302"/>
            <a:ext cx="4419600" cy="923330"/>
          </a:xfrm>
          <a:prstGeom prst="rect">
            <a:avLst/>
          </a:prstGeom>
          <a:solidFill>
            <a:srgbClr val="DBE0E7"/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Stable, but treatment-dependent</a:t>
            </a:r>
          </a:p>
          <a:p>
            <a:r>
              <a:rPr lang="en-US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Seeds agree (ARI 0.998), but treated and IQR-capped </a:t>
            </a:r>
            <a:r>
              <a:rPr lang="en-US" dirty="0" err="1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clusterings</a:t>
            </a:r>
            <a:r>
              <a:rPr lang="en-US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differ (ARI 0.436).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F1D4E59-54D4-F923-B52A-993F3157B6B2}"/>
              </a:ext>
            </a:extLst>
          </p:cNvPr>
          <p:cNvSpPr txBox="1"/>
          <p:nvPr/>
        </p:nvSpPr>
        <p:spPr>
          <a:xfrm>
            <a:off x="7574976" y="5372006"/>
            <a:ext cx="4419600" cy="1200329"/>
          </a:xfrm>
          <a:prstGeom prst="rect">
            <a:avLst/>
          </a:prstGeom>
          <a:solidFill>
            <a:srgbClr val="DBE0E7"/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Heavy users go missing</a:t>
            </a:r>
          </a:p>
          <a:p>
            <a:r>
              <a:rPr lang="en-US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ten customers with 12–18 sessions sit in the low cluster when treated, and the top cluster when capped.</a:t>
            </a:r>
          </a:p>
        </p:txBody>
      </p:sp>
      <p:pic>
        <p:nvPicPr>
          <p:cNvPr id="8" name="Picture 2" descr="logo">
            <a:extLst>
              <a:ext uri="{FF2B5EF4-FFF2-40B4-BE49-F238E27FC236}">
                <a16:creationId xmlns:a16="http://schemas.microsoft.com/office/drawing/2014/main" id="{46C06CB7-4C9D-9A60-BCFD-2CF4C10146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71858" y="-10886"/>
            <a:ext cx="1520142" cy="633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1C66304-923F-48F7-3078-AD13AFCFE68A}"/>
              </a:ext>
            </a:extLst>
          </p:cNvPr>
          <p:cNvCxnSpPr/>
          <p:nvPr/>
        </p:nvCxnSpPr>
        <p:spPr>
          <a:xfrm>
            <a:off x="0" y="1370786"/>
            <a:ext cx="121920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A group of graphs showing different types of data&#10;&#10;AI-generated content may be incorrect.">
            <a:extLst>
              <a:ext uri="{FF2B5EF4-FFF2-40B4-BE49-F238E27FC236}">
                <a16:creationId xmlns:a16="http://schemas.microsoft.com/office/drawing/2014/main" id="{24846336-91F9-B07E-D869-E33BCC0CE8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424" y="1768994"/>
            <a:ext cx="7073837" cy="5052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69588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8F86C1-67AA-61FC-DF2D-800277B270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648502F-2B5C-4EB2-C0C9-30D144A1F3F1}"/>
              </a:ext>
            </a:extLst>
          </p:cNvPr>
          <p:cNvSpPr txBox="1"/>
          <p:nvPr/>
        </p:nvSpPr>
        <p:spPr>
          <a:xfrm>
            <a:off x="202943" y="291722"/>
            <a:ext cx="1178611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Throughput is the one robust experience split</a:t>
            </a:r>
            <a:endParaRPr lang="en-US" sz="4800" dirty="0">
              <a:solidFill>
                <a:srgbClr val="26384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B9B157-228A-E7CF-33B2-F2D7ABE68FDE}"/>
              </a:ext>
            </a:extLst>
          </p:cNvPr>
          <p:cNvSpPr txBox="1"/>
          <p:nvPr/>
        </p:nvSpPr>
        <p:spPr>
          <a:xfrm>
            <a:off x="279398" y="5109442"/>
            <a:ext cx="11633201" cy="1292662"/>
          </a:xfrm>
          <a:prstGeom prst="rect">
            <a:avLst/>
          </a:prstGeom>
          <a:solidFill>
            <a:srgbClr val="263840"/>
          </a:solidFill>
        </p:spPr>
        <p:txBody>
          <a:bodyPr wrap="square" rtlCol="0">
            <a:spAutoFit/>
          </a:bodyPr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third group is mostly customers whose RTT was imputed: its mean RTT (67.2 </a:t>
            </a:r>
            <a:r>
              <a:rPr lang="en-US" sz="17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ms</a:t>
            </a:r>
            <a:r>
              <a:rPr lang="en-US" sz="1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 is close to the imputed value (62.9 </a:t>
            </a:r>
            <a:r>
              <a:rPr lang="en-US" sz="17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ms</a:t>
            </a:r>
            <a:r>
              <a:rPr lang="en-US" sz="1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).</a:t>
            </a:r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TCP is fully imputed for 63.2% of customers, and the imputed value is about 36× the observed median: rely on throughput, not TCP.</a:t>
            </a:r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Clusters depend on preprocessing: ARI against the primary is 0.530 without TCP and 0.432 with capping (seed ARI 0.9993).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14FC50-69B0-8FE7-DD19-0C7888BFEC6F}"/>
              </a:ext>
            </a:extLst>
          </p:cNvPr>
          <p:cNvSpPr txBox="1"/>
          <p:nvPr/>
        </p:nvSpPr>
        <p:spPr>
          <a:xfrm>
            <a:off x="279399" y="2113255"/>
            <a:ext cx="3657643" cy="2631490"/>
          </a:xfrm>
          <a:prstGeom prst="rect">
            <a:avLst/>
          </a:prstGeom>
          <a:solidFill>
            <a:srgbClr val="DBE0E7"/>
          </a:solidFill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Good experience</a:t>
            </a:r>
          </a:p>
          <a:p>
            <a:endParaRPr lang="en-US" sz="500" dirty="0">
              <a:solidFill>
                <a:srgbClr val="26384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600" b="1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36,929 (34.6%) customers</a:t>
            </a:r>
          </a:p>
          <a:p>
            <a:endParaRPr lang="en-US" dirty="0">
              <a:solidFill>
                <a:srgbClr val="26384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Avg throughput                     </a:t>
            </a:r>
            <a:r>
              <a:rPr lang="en-US" b="1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9.1 Mbps</a:t>
            </a:r>
          </a:p>
          <a:p>
            <a:endParaRPr lang="en-US" sz="1000" dirty="0">
              <a:solidFill>
                <a:srgbClr val="26384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Avg RTT                                   </a:t>
            </a:r>
            <a:r>
              <a:rPr lang="en-US" b="1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38 </a:t>
            </a:r>
            <a:r>
              <a:rPr lang="en-US" b="1" dirty="0" err="1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ms</a:t>
            </a:r>
            <a:endParaRPr lang="en-US" b="1" dirty="0">
              <a:solidFill>
                <a:srgbClr val="26384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000" dirty="0">
              <a:solidFill>
                <a:srgbClr val="26384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Avg TCP retransmission.       </a:t>
            </a:r>
            <a:r>
              <a:rPr lang="en-US" b="1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4.5 MB</a:t>
            </a:r>
          </a:p>
          <a:p>
            <a:endParaRPr lang="en-US" sz="1000" dirty="0">
              <a:solidFill>
                <a:srgbClr val="26384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RTT fully imputed                  </a:t>
            </a:r>
            <a:r>
              <a:rPr lang="en-US" b="1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0.3%</a:t>
            </a:r>
            <a:endParaRPr lang="en-US" dirty="0">
              <a:solidFill>
                <a:srgbClr val="26384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358FDF-AA29-9577-66D4-9C930A74DC16}"/>
              </a:ext>
            </a:extLst>
          </p:cNvPr>
          <p:cNvSpPr txBox="1"/>
          <p:nvPr/>
        </p:nvSpPr>
        <p:spPr>
          <a:xfrm>
            <a:off x="4267178" y="2113255"/>
            <a:ext cx="3657643" cy="2631490"/>
          </a:xfrm>
          <a:prstGeom prst="rect">
            <a:avLst/>
          </a:prstGeom>
          <a:solidFill>
            <a:srgbClr val="DBE0E7"/>
          </a:solidFill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Low throughput</a:t>
            </a:r>
          </a:p>
          <a:p>
            <a:endParaRPr lang="en-US" sz="500" b="1" dirty="0">
              <a:solidFill>
                <a:srgbClr val="26384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600" b="1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43,146 (40.4%) customers</a:t>
            </a:r>
          </a:p>
          <a:p>
            <a:endParaRPr lang="en-US" dirty="0">
              <a:solidFill>
                <a:srgbClr val="26384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Avg throughput                   </a:t>
            </a:r>
            <a:r>
              <a:rPr lang="en-US" b="1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0.63 Mbps</a:t>
            </a:r>
          </a:p>
          <a:p>
            <a:endParaRPr lang="en-US" sz="1000" dirty="0">
              <a:solidFill>
                <a:srgbClr val="26384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Avg RTT                                 </a:t>
            </a:r>
            <a:r>
              <a:rPr lang="en-US" b="1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22 </a:t>
            </a:r>
            <a:r>
              <a:rPr lang="en-US" b="1" dirty="0" err="1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ms</a:t>
            </a:r>
            <a:endParaRPr lang="en-US" b="1" dirty="0">
              <a:solidFill>
                <a:srgbClr val="26384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000" dirty="0">
              <a:solidFill>
                <a:srgbClr val="26384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Avg TCP retransmission      </a:t>
            </a:r>
            <a:r>
              <a:rPr lang="en-US" b="1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20.9 MB</a:t>
            </a:r>
          </a:p>
          <a:p>
            <a:endParaRPr lang="en-US" sz="1000" dirty="0">
              <a:solidFill>
                <a:srgbClr val="26384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RTT fully imputed                </a:t>
            </a:r>
            <a:r>
              <a:rPr lang="en-US" b="1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0.0%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A0BBBE-BAEF-E93B-DB36-4D7B1F3F0ADC}"/>
              </a:ext>
            </a:extLst>
          </p:cNvPr>
          <p:cNvSpPr txBox="1"/>
          <p:nvPr/>
        </p:nvSpPr>
        <p:spPr>
          <a:xfrm>
            <a:off x="8254957" y="2113255"/>
            <a:ext cx="3657643" cy="2631490"/>
          </a:xfrm>
          <a:prstGeom prst="rect">
            <a:avLst/>
          </a:prstGeom>
          <a:solidFill>
            <a:srgbClr val="DBE0E7"/>
          </a:solidFill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High / unmeasured latency</a:t>
            </a:r>
          </a:p>
          <a:p>
            <a:endParaRPr lang="en-US" sz="500" b="1" dirty="0">
              <a:solidFill>
                <a:srgbClr val="26384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600" b="1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26,781 (25.1%) customers</a:t>
            </a:r>
          </a:p>
          <a:p>
            <a:endParaRPr lang="en-US" dirty="0">
              <a:solidFill>
                <a:srgbClr val="26384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Avg throughput                     </a:t>
            </a:r>
            <a:r>
              <a:rPr lang="en-US" b="1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1.2 Mbps</a:t>
            </a:r>
          </a:p>
          <a:p>
            <a:endParaRPr lang="en-US" sz="1000" dirty="0">
              <a:solidFill>
                <a:srgbClr val="26384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Avg RTT                                   </a:t>
            </a:r>
            <a:r>
              <a:rPr lang="en-US" b="1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67 </a:t>
            </a:r>
            <a:r>
              <a:rPr lang="en-US" b="1" dirty="0" err="1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ms</a:t>
            </a:r>
            <a:endParaRPr lang="en-US" b="1" dirty="0">
              <a:solidFill>
                <a:srgbClr val="26384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000" dirty="0">
              <a:solidFill>
                <a:srgbClr val="26384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Avg TCP retransmission        </a:t>
            </a:r>
            <a:r>
              <a:rPr lang="en-US" b="1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19.3 MB</a:t>
            </a:r>
          </a:p>
          <a:p>
            <a:endParaRPr lang="en-US" sz="1000" dirty="0">
              <a:solidFill>
                <a:srgbClr val="26384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RTT fully imputed                  </a:t>
            </a:r>
            <a:r>
              <a:rPr lang="en-US" b="1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68.9%</a:t>
            </a:r>
            <a:endParaRPr lang="en-US" dirty="0">
              <a:solidFill>
                <a:srgbClr val="26384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Picture 2" descr="logo">
            <a:extLst>
              <a:ext uri="{FF2B5EF4-FFF2-40B4-BE49-F238E27FC236}">
                <a16:creationId xmlns:a16="http://schemas.microsoft.com/office/drawing/2014/main" id="{6C425AFB-94FC-4877-C972-FDC0D26A1A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71858" y="-10886"/>
            <a:ext cx="1520142" cy="633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FE1920F-E102-0FF3-87A6-3284EBA80F5A}"/>
              </a:ext>
            </a:extLst>
          </p:cNvPr>
          <p:cNvCxnSpPr/>
          <p:nvPr/>
        </p:nvCxnSpPr>
        <p:spPr>
          <a:xfrm>
            <a:off x="0" y="1370786"/>
            <a:ext cx="121920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07391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D60F3C-64AD-5889-D0BC-B420BD7FA2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B12EB93-C5B6-94E6-FD1B-BE94633E8F1B}"/>
              </a:ext>
            </a:extLst>
          </p:cNvPr>
          <p:cNvSpPr txBox="1"/>
          <p:nvPr/>
        </p:nvSpPr>
        <p:spPr>
          <a:xfrm>
            <a:off x="3013425" y="127717"/>
            <a:ext cx="616514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b="1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router is fast; </a:t>
            </a:r>
          </a:p>
          <a:p>
            <a:pPr algn="ctr"/>
            <a:r>
              <a:rPr lang="en-US" sz="3600" b="1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top phones sit near 40–70 kbps</a:t>
            </a:r>
            <a:endParaRPr lang="en-US" sz="3600" dirty="0">
              <a:solidFill>
                <a:srgbClr val="26384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DF71C36-E198-EAE4-086D-0124D12EC437}"/>
              </a:ext>
            </a:extLst>
          </p:cNvPr>
          <p:cNvSpPr txBox="1"/>
          <p:nvPr/>
        </p:nvSpPr>
        <p:spPr>
          <a:xfrm>
            <a:off x="8299695" y="1458715"/>
            <a:ext cx="3064934" cy="1415772"/>
          </a:xfrm>
          <a:prstGeom prst="rect">
            <a:avLst/>
          </a:prstGeom>
          <a:solidFill>
            <a:srgbClr val="DBE0E7"/>
          </a:solidFill>
        </p:spPr>
        <p:txBody>
          <a:bodyPr wrap="square" rtlCol="0">
            <a:spAutoFit/>
          </a:bodyPr>
          <a:lstStyle/>
          <a:p>
            <a:endParaRPr lang="en-US" sz="1000" b="1" dirty="0">
              <a:solidFill>
                <a:srgbClr val="8BA1AE"/>
              </a:solidFill>
              <a:latin typeface="Calibri" panose="020F0502020204030204" pitchFamily="34" charset="0"/>
              <a:ea typeface="Cambria" pitchFamily="34" charset="-122"/>
              <a:cs typeface="Calibri" panose="020F0502020204030204" pitchFamily="34" charset="0"/>
            </a:endParaRPr>
          </a:p>
          <a:p>
            <a:r>
              <a:rPr lang="en-US" sz="2400" b="1" dirty="0">
                <a:solidFill>
                  <a:srgbClr val="8BA1AE"/>
                </a:solidFill>
                <a:latin typeface="Calibri" panose="020F0502020204030204" pitchFamily="34" charset="0"/>
                <a:ea typeface="Cambria" pitchFamily="34" charset="-122"/>
                <a:cs typeface="Calibri" panose="020F0502020204030204" pitchFamily="34" charset="0"/>
              </a:rPr>
              <a:t>ε² = 0.328</a:t>
            </a:r>
            <a:endParaRPr lang="en-US" sz="2400" dirty="0">
              <a:solidFill>
                <a:srgbClr val="8BA1AE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300" dirty="0">
              <a:solidFill>
                <a:srgbClr val="26384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300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Throughput differs strongly across the ten handsets, mostly because of the router.</a:t>
            </a:r>
          </a:p>
          <a:p>
            <a:endParaRPr lang="en-US" sz="1300" dirty="0">
              <a:solidFill>
                <a:srgbClr val="26384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43E59C-FCFA-3CE4-513A-7747F285BCC0}"/>
              </a:ext>
            </a:extLst>
          </p:cNvPr>
          <p:cNvSpPr txBox="1"/>
          <p:nvPr/>
        </p:nvSpPr>
        <p:spPr>
          <a:xfrm>
            <a:off x="8299695" y="3125821"/>
            <a:ext cx="3064933" cy="33445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68.0% of router customers sit in the Good experience group.</a:t>
            </a:r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Router median is 19,571 kbps against 39–68 kbps for the top phones.</a:t>
            </a:r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TCP is observed for 84% of router customers but only 8–20% of phone customers, so handset TCP comparisons are unreliable.</a:t>
            </a:r>
          </a:p>
        </p:txBody>
      </p:sp>
      <p:pic>
        <p:nvPicPr>
          <p:cNvPr id="6" name="Picture 2" descr="logo">
            <a:extLst>
              <a:ext uri="{FF2B5EF4-FFF2-40B4-BE49-F238E27FC236}">
                <a16:creationId xmlns:a16="http://schemas.microsoft.com/office/drawing/2014/main" id="{E0CAB6A8-AC9E-054F-8BA4-051B4E3DFE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71858" y="-10886"/>
            <a:ext cx="1520142" cy="633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D3ECE64-DD41-B20F-34CB-0CB7AB46ADDA}"/>
              </a:ext>
            </a:extLst>
          </p:cNvPr>
          <p:cNvCxnSpPr/>
          <p:nvPr/>
        </p:nvCxnSpPr>
        <p:spPr>
          <a:xfrm>
            <a:off x="0" y="1370786"/>
            <a:ext cx="121920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A graph with a bar chart&#10;&#10;AI-generated content may be incorrect.">
            <a:extLst>
              <a:ext uri="{FF2B5EF4-FFF2-40B4-BE49-F238E27FC236}">
                <a16:creationId xmlns:a16="http://schemas.microsoft.com/office/drawing/2014/main" id="{A6B483C2-111A-3588-DB08-24A9D28FD5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408" y="1413526"/>
            <a:ext cx="6646501" cy="2848499"/>
          </a:xfrm>
          <a:prstGeom prst="rect">
            <a:avLst/>
          </a:prstGeom>
        </p:spPr>
      </p:pic>
      <p:pic>
        <p:nvPicPr>
          <p:cNvPr id="11" name="Picture 10" descr="A screenshot of a graph&#10;&#10;AI-generated content may be incorrect.">
            <a:extLst>
              <a:ext uri="{FF2B5EF4-FFF2-40B4-BE49-F238E27FC236}">
                <a16:creationId xmlns:a16="http://schemas.microsoft.com/office/drawing/2014/main" id="{4292109F-C30B-18F4-F350-2F98A2DC54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408" y="4277448"/>
            <a:ext cx="6646500" cy="2584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55232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C06860-721D-0394-28E5-FAF6522E44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42A875E-CCD0-007D-7656-BA61885AAF17}"/>
              </a:ext>
            </a:extLst>
          </p:cNvPr>
          <p:cNvSpPr txBox="1"/>
          <p:nvPr/>
        </p:nvSpPr>
        <p:spPr>
          <a:xfrm>
            <a:off x="2490590" y="69697"/>
            <a:ext cx="721082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b="1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41% of customers </a:t>
            </a:r>
          </a:p>
          <a:p>
            <a:pPr algn="ctr"/>
            <a:r>
              <a:rPr lang="en-US" sz="3600" b="1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are engaged with weaker experience</a:t>
            </a:r>
            <a:endParaRPr lang="en-US" sz="3600" dirty="0">
              <a:solidFill>
                <a:srgbClr val="26384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B83970-397F-E060-19DC-FFAF1C729BFE}"/>
              </a:ext>
            </a:extLst>
          </p:cNvPr>
          <p:cNvSpPr txBox="1"/>
          <p:nvPr/>
        </p:nvSpPr>
        <p:spPr>
          <a:xfrm>
            <a:off x="6270824" y="4521016"/>
            <a:ext cx="5925517" cy="22672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263840"/>
                </a:solidFill>
                <a:latin typeface="Calibri" panose="020F0502020204030204" pitchFamily="34" charset="0"/>
                <a:ea typeface="Cambria" pitchFamily="34" charset="-122"/>
                <a:cs typeface="Calibri" panose="020F0502020204030204" pitchFamily="34" charset="0"/>
              </a:rPr>
              <a:t>What the proxy shows</a:t>
            </a:r>
            <a:endParaRPr lang="en-US" sz="1600" dirty="0">
              <a:solidFill>
                <a:srgbClr val="26384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Satisfaction is the mean of the rescaled engagement and experience scores: average 0.317, median 0.312.</a:t>
            </a:r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experience score tracks whether RTT was measured (Spearman −0.660 with the imputed share). Fully imputed RTT averages 0.388; fully observed, 2.378.</a:t>
            </a:r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Rankings are robust to weighting (Spearman 0.92–0.98), but top-10 lists share only 7–9 names.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1BCAA24-2011-29FC-698A-0170B79B60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5636361"/>
              </p:ext>
            </p:extLst>
          </p:nvPr>
        </p:nvGraphicFramePr>
        <p:xfrm>
          <a:off x="170481" y="1463862"/>
          <a:ext cx="5925517" cy="12852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30336">
                  <a:extLst>
                    <a:ext uri="{9D8B030D-6E8A-4147-A177-3AD203B41FA5}">
                      <a16:colId xmlns:a16="http://schemas.microsoft.com/office/drawing/2014/main" val="2589925155"/>
                    </a:ext>
                  </a:extLst>
                </a:gridCol>
                <a:gridCol w="1223507">
                  <a:extLst>
                    <a:ext uri="{9D8B030D-6E8A-4147-A177-3AD203B41FA5}">
                      <a16:colId xmlns:a16="http://schemas.microsoft.com/office/drawing/2014/main" val="3510156813"/>
                    </a:ext>
                  </a:extLst>
                </a:gridCol>
                <a:gridCol w="1068634">
                  <a:extLst>
                    <a:ext uri="{9D8B030D-6E8A-4147-A177-3AD203B41FA5}">
                      <a16:colId xmlns:a16="http://schemas.microsoft.com/office/drawing/2014/main" val="948609266"/>
                    </a:ext>
                  </a:extLst>
                </a:gridCol>
                <a:gridCol w="975708">
                  <a:extLst>
                    <a:ext uri="{9D8B030D-6E8A-4147-A177-3AD203B41FA5}">
                      <a16:colId xmlns:a16="http://schemas.microsoft.com/office/drawing/2014/main" val="1525224400"/>
                    </a:ext>
                  </a:extLst>
                </a:gridCol>
                <a:gridCol w="1027332">
                  <a:extLst>
                    <a:ext uri="{9D8B030D-6E8A-4147-A177-3AD203B41FA5}">
                      <a16:colId xmlns:a16="http://schemas.microsoft.com/office/drawing/2014/main" val="37426711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Cluster (k = 2)</a:t>
                      </a:r>
                      <a:endParaRPr lang="en-US" sz="1200" dirty="0"/>
                    </a:p>
                  </a:txBody>
                  <a:tcPr anchor="ctr">
                    <a:solidFill>
                      <a:srgbClr val="8BA1A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Customers</a:t>
                      </a:r>
                      <a:endParaRPr lang="en-US" sz="1200" dirty="0"/>
                    </a:p>
                  </a:txBody>
                  <a:tcPr anchor="ctr">
                    <a:solidFill>
                      <a:srgbClr val="8BA1A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Engagement</a:t>
                      </a:r>
                      <a:endParaRPr lang="en-US" sz="1200" dirty="0"/>
                    </a:p>
                  </a:txBody>
                  <a:tcPr anchor="ctr">
                    <a:solidFill>
                      <a:srgbClr val="8BA1A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Experience</a:t>
                      </a:r>
                      <a:endParaRPr lang="en-US" sz="1200" dirty="0"/>
                    </a:p>
                  </a:txBody>
                  <a:tcPr anchor="ctr">
                    <a:solidFill>
                      <a:srgbClr val="8BA1A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Satisfaction</a:t>
                      </a:r>
                      <a:endParaRPr lang="en-US" sz="1200" dirty="0"/>
                    </a:p>
                  </a:txBody>
                  <a:tcPr anchor="ctr">
                    <a:solidFill>
                      <a:srgbClr val="8BA1A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62313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Engaged, weaker experience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43,694 (40.9%)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2.33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1.21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0.295</a:t>
                      </a:r>
                      <a:endParaRPr 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434538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Less engaged, better experience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63,162 (59.1%)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1.07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2.55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0.331</a:t>
                      </a:r>
                      <a:endParaRPr 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66055916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0BF8642D-917B-19AA-8427-8005058EEDE3}"/>
              </a:ext>
            </a:extLst>
          </p:cNvPr>
          <p:cNvSpPr txBox="1"/>
          <p:nvPr/>
        </p:nvSpPr>
        <p:spPr>
          <a:xfrm>
            <a:off x="569279" y="3059668"/>
            <a:ext cx="26058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Top 10 satisfaction scores</a:t>
            </a:r>
            <a:endParaRPr lang="en-US" dirty="0">
              <a:solidFill>
                <a:srgbClr val="26384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Picture 2" descr="logo">
            <a:extLst>
              <a:ext uri="{FF2B5EF4-FFF2-40B4-BE49-F238E27FC236}">
                <a16:creationId xmlns:a16="http://schemas.microsoft.com/office/drawing/2014/main" id="{CCE25FF4-E8E4-72E2-F4A9-2AA8CC76A5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71858" y="-10886"/>
            <a:ext cx="1520142" cy="633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38ADE1D-D6D4-FA01-735F-29990A65F067}"/>
              </a:ext>
            </a:extLst>
          </p:cNvPr>
          <p:cNvCxnSpPr/>
          <p:nvPr/>
        </p:nvCxnSpPr>
        <p:spPr>
          <a:xfrm>
            <a:off x="0" y="1370786"/>
            <a:ext cx="121920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A graph of a satisfaction score&#10;&#10;AI-generated content may be incorrect.">
            <a:extLst>
              <a:ext uri="{FF2B5EF4-FFF2-40B4-BE49-F238E27FC236}">
                <a16:creationId xmlns:a16="http://schemas.microsoft.com/office/drawing/2014/main" id="{7F61402C-F918-5036-8535-8476E3407A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481" y="3738131"/>
            <a:ext cx="6100343" cy="3050172"/>
          </a:xfrm>
          <a:prstGeom prst="rect">
            <a:avLst/>
          </a:prstGeom>
        </p:spPr>
      </p:pic>
      <p:pic>
        <p:nvPicPr>
          <p:cNvPr id="11" name="Picture 10" descr="A diagram of a customer satisfaction&#10;&#10;AI-generated content may be incorrect.">
            <a:extLst>
              <a:ext uri="{FF2B5EF4-FFF2-40B4-BE49-F238E27FC236}">
                <a16:creationId xmlns:a16="http://schemas.microsoft.com/office/drawing/2014/main" id="{06488BE1-3FBA-604D-F1E0-2E7EC6FB69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6026" y="1463862"/>
            <a:ext cx="3915903" cy="3045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49484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C0230C-65D6-241C-85C5-C4772DC2D5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9D7109-047C-4CAF-E340-42FADFA21395}"/>
              </a:ext>
            </a:extLst>
          </p:cNvPr>
          <p:cNvSpPr txBox="1"/>
          <p:nvPr/>
        </p:nvSpPr>
        <p:spPr>
          <a:xfrm>
            <a:off x="2365327" y="84687"/>
            <a:ext cx="744056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b="1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Gradient boosting recovers the score, </a:t>
            </a:r>
          </a:p>
          <a:p>
            <a:pPr algn="ctr"/>
            <a:r>
              <a:rPr lang="en-US" sz="3600" b="1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not satisfaction</a:t>
            </a:r>
            <a:endParaRPr lang="en-US" sz="3600" dirty="0">
              <a:solidFill>
                <a:srgbClr val="26384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4D2C2AB-1355-CD05-EB05-FD23D5916A95}"/>
              </a:ext>
            </a:extLst>
          </p:cNvPr>
          <p:cNvSpPr txBox="1"/>
          <p:nvPr/>
        </p:nvSpPr>
        <p:spPr>
          <a:xfrm>
            <a:off x="108488" y="5593503"/>
            <a:ext cx="11964692" cy="1179810"/>
          </a:xfrm>
          <a:prstGeom prst="rect">
            <a:avLst/>
          </a:prstGeom>
          <a:solidFill>
            <a:srgbClr val="8BA1AE"/>
          </a:solidFill>
        </p:spPr>
        <p:txBody>
          <a:bodyPr wrap="square" rtlCol="0">
            <a:spAutoFit/>
          </a:bodyPr>
          <a:lstStyle/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Gradient boosting: R² 0.9921, RMSE 0.0119, MAE 0.0082; CV R² 0.9923 ± 0.0001; train–test gap 0.0002.</a:t>
            </a:r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target is a formula of the model's own inputs, so this is formula recovery, not forecasting of real satisfaction.</a:t>
            </a:r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RTT leads SHAP partly because 1</a:t>
            </a:r>
            <a:r>
              <a:rPr lang="en-IN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6.4% of the 2,000-customer SHAP sample (17.4% of all customers) </a:t>
            </a: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sits at the imputed RTT (mean SHAP −0.103 against +0.020 for the rest).</a:t>
            </a:r>
          </a:p>
        </p:txBody>
      </p:sp>
      <p:pic>
        <p:nvPicPr>
          <p:cNvPr id="4" name="Picture 2" descr="logo">
            <a:extLst>
              <a:ext uri="{FF2B5EF4-FFF2-40B4-BE49-F238E27FC236}">
                <a16:creationId xmlns:a16="http://schemas.microsoft.com/office/drawing/2014/main" id="{D2E03087-993F-6694-26B2-F368C9276F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71858" y="-10886"/>
            <a:ext cx="1520142" cy="633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98FD39D-A609-2E43-8BD4-CA517B073B71}"/>
              </a:ext>
            </a:extLst>
          </p:cNvPr>
          <p:cNvCxnSpPr/>
          <p:nvPr/>
        </p:nvCxnSpPr>
        <p:spPr>
          <a:xfrm>
            <a:off x="0" y="1370786"/>
            <a:ext cx="121920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A graph of different types of data&#10;&#10;AI-generated content may be incorrect.">
            <a:extLst>
              <a:ext uri="{FF2B5EF4-FFF2-40B4-BE49-F238E27FC236}">
                <a16:creationId xmlns:a16="http://schemas.microsoft.com/office/drawing/2014/main" id="{28E82C6A-51C3-C4BE-C06A-FEDB084093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5850" y="1695450"/>
            <a:ext cx="6250983" cy="3467100"/>
          </a:xfrm>
          <a:prstGeom prst="rect">
            <a:avLst/>
          </a:prstGeom>
        </p:spPr>
      </p:pic>
      <p:pic>
        <p:nvPicPr>
          <p:cNvPr id="9" name="Picture 8" descr="A bar graph with text&#10;&#10;AI-generated content may be incorrect.">
            <a:extLst>
              <a:ext uri="{FF2B5EF4-FFF2-40B4-BE49-F238E27FC236}">
                <a16:creationId xmlns:a16="http://schemas.microsoft.com/office/drawing/2014/main" id="{77C3B2BD-43A8-815D-2860-A4240A2FC7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6" y="1695450"/>
            <a:ext cx="5930684" cy="3467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80569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F3498B-709A-DF58-645B-16B83155E3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04391E7-E094-7256-63E2-2BCE375D8C2B}"/>
              </a:ext>
            </a:extLst>
          </p:cNvPr>
          <p:cNvSpPr txBox="1"/>
          <p:nvPr/>
        </p:nvSpPr>
        <p:spPr>
          <a:xfrm>
            <a:off x="1057298" y="305810"/>
            <a:ext cx="934691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Growth potential is plausible but unproven</a:t>
            </a:r>
            <a:endParaRPr lang="en-US" sz="4000" dirty="0">
              <a:solidFill>
                <a:srgbClr val="26384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E5112E0-6AAF-9AFC-8799-79CD66CCBF66}"/>
              </a:ext>
            </a:extLst>
          </p:cNvPr>
          <p:cNvSpPr txBox="1"/>
          <p:nvPr/>
        </p:nvSpPr>
        <p:spPr>
          <a:xfrm>
            <a:off x="4774003" y="1663134"/>
            <a:ext cx="3628947" cy="3200876"/>
          </a:xfrm>
          <a:prstGeom prst="rect">
            <a:avLst/>
          </a:prstGeom>
          <a:solidFill>
            <a:srgbClr val="8BA1AE"/>
          </a:solidFill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  <a:buSzPct val="100000"/>
            </a:pPr>
            <a:r>
              <a:rPr lang="en-US" b="1" dirty="0">
                <a:solidFill>
                  <a:schemeClr val="bg1"/>
                </a:solidFill>
                <a:latin typeface="Calibri" panose="020F0502020204030204" pitchFamily="34" charset="0"/>
                <a:ea typeface="Cambria" pitchFamily="34" charset="-122"/>
                <a:cs typeface="Calibri" panose="020F0502020204030204" pitchFamily="34" charset="0"/>
              </a:rPr>
              <a:t>	  </a:t>
            </a:r>
            <a:r>
              <a:rPr lang="en-US" sz="2000" b="1" dirty="0">
                <a:solidFill>
                  <a:schemeClr val="bg1"/>
                </a:solidFill>
                <a:latin typeface="Calibri" panose="020F0502020204030204" pitchFamily="34" charset="0"/>
                <a:ea typeface="Cambria" pitchFamily="34" charset="-122"/>
                <a:cs typeface="Calibri" panose="020F0502020204030204" pitchFamily="34" charset="0"/>
              </a:rPr>
              <a:t>Strengths</a:t>
            </a:r>
            <a:endParaRPr lang="en-US" sz="20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106,856 customers; traffic moderately concentrated (top 10% carry 21–26%).</a:t>
            </a:r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Gaming is the only app whose link to volume survives the per-session check (r = 0.986), largely because it is about 87% of the total</a:t>
            </a: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 distinct router segment: 13.25% of sessions (9.9% of customers)</a:t>
            </a: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41CE537-A368-BF00-1B9C-8AEBE4101999}"/>
              </a:ext>
            </a:extLst>
          </p:cNvPr>
          <p:cNvSpPr txBox="1"/>
          <p:nvPr/>
        </p:nvSpPr>
        <p:spPr>
          <a:xfrm>
            <a:off x="8431078" y="1663134"/>
            <a:ext cx="3682341" cy="5078313"/>
          </a:xfrm>
          <a:prstGeom prst="rect">
            <a:avLst/>
          </a:prstGeom>
          <a:solidFill>
            <a:srgbClr val="8BA1AE"/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alibri" panose="020F0502020204030204" pitchFamily="34" charset="0"/>
                <a:ea typeface="Cambria" pitchFamily="34" charset="-122"/>
                <a:cs typeface="Calibri" panose="020F0502020204030204" pitchFamily="34" charset="0"/>
              </a:rPr>
              <a:t>            </a:t>
            </a:r>
            <a:r>
              <a:rPr lang="en-US" sz="2000" b="1" dirty="0">
                <a:solidFill>
                  <a:schemeClr val="bg1"/>
                </a:solidFill>
                <a:latin typeface="Calibri" panose="020F0502020204030204" pitchFamily="34" charset="0"/>
                <a:ea typeface="Cambria" pitchFamily="34" charset="-122"/>
                <a:cs typeface="Calibri" panose="020F0502020204030204" pitchFamily="34" charset="0"/>
              </a:rPr>
              <a:t>Hypotheses to test</a:t>
            </a:r>
          </a:p>
          <a:p>
            <a:endParaRPr lang="en-US" sz="700" b="1" dirty="0">
              <a:solidFill>
                <a:schemeClr val="bg1"/>
              </a:solidFill>
              <a:latin typeface="Calibri" panose="020F0502020204030204" pitchFamily="34" charset="0"/>
              <a:ea typeface="Cambria" pitchFamily="34" charset="-122"/>
              <a:cs typeface="Calibri" panose="020F0502020204030204" pitchFamily="34" charset="0"/>
            </a:endParaRPr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Diagnose the cause of low throughput (device, plan or cell load) in the 40.4% group before any network spend.</a:t>
            </a:r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Investigate the 25.1% high-latency group only after the RTT gaps are explained.</a:t>
            </a:r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Review the 19.2% high-traffic, low-score group (20,548 customers, 23.7% of treated and 25.5% of untreated traffic): a candidate, not a confirmed churn risk.</a:t>
            </a:r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Target the 22.8% High engagement group; test an upgrade offer for </a:t>
            </a: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previous-generation iPhones</a:t>
            </a: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758A10-10BB-13C4-4143-12EFADD7A7F4}"/>
              </a:ext>
            </a:extLst>
          </p:cNvPr>
          <p:cNvSpPr txBox="1"/>
          <p:nvPr/>
        </p:nvSpPr>
        <p:spPr>
          <a:xfrm>
            <a:off x="4774002" y="4925565"/>
            <a:ext cx="3628947" cy="1815882"/>
          </a:xfrm>
          <a:prstGeom prst="rect">
            <a:avLst/>
          </a:prstGeom>
          <a:solidFill>
            <a:srgbClr val="8BA1AE"/>
          </a:solidFill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  <a:buSzPct val="100000"/>
            </a:pPr>
            <a:r>
              <a:rPr lang="en-US" b="1" dirty="0">
                <a:solidFill>
                  <a:schemeClr val="bg1"/>
                </a:solidFill>
                <a:latin typeface="Calibri" panose="020F0502020204030204" pitchFamily="34" charset="0"/>
                <a:ea typeface="Cambria" pitchFamily="34" charset="-122"/>
                <a:cs typeface="Calibri" panose="020F0502020204030204" pitchFamily="34" charset="0"/>
              </a:rPr>
              <a:t>	</a:t>
            </a:r>
            <a:r>
              <a:rPr lang="en-US" sz="2000" b="1" dirty="0">
                <a:solidFill>
                  <a:schemeClr val="bg1"/>
                </a:solidFill>
                <a:latin typeface="Calibri" panose="020F0502020204030204" pitchFamily="34" charset="0"/>
                <a:ea typeface="Cambria" pitchFamily="34" charset="-122"/>
                <a:cs typeface="Calibri" panose="020F0502020204030204" pitchFamily="34" charset="0"/>
              </a:rPr>
              <a:t>    Risks</a:t>
            </a:r>
            <a:endParaRPr lang="en-US" sz="2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 financials.</a:t>
            </a:r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One week of data.</a:t>
            </a:r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Network metrics are heavily imputed.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838124C-98F1-CF5A-7038-14C344A4C7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0257" y="4956856"/>
            <a:ext cx="381000" cy="381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588C898-B1DB-2BF7-D158-B49645C99E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2695" y="1712541"/>
            <a:ext cx="393700" cy="3810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D710EE7-B2ED-5EE4-9702-BA46D786F0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79863" y="1712541"/>
            <a:ext cx="381000" cy="381000"/>
          </a:xfrm>
          <a:prstGeom prst="rect">
            <a:avLst/>
          </a:prstGeom>
        </p:spPr>
      </p:pic>
      <p:pic>
        <p:nvPicPr>
          <p:cNvPr id="4" name="Picture 2" descr="logo">
            <a:extLst>
              <a:ext uri="{FF2B5EF4-FFF2-40B4-BE49-F238E27FC236}">
                <a16:creationId xmlns:a16="http://schemas.microsoft.com/office/drawing/2014/main" id="{4A4DDF33-22A5-75F6-A4E1-CFCB53C05E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71858" y="-10886"/>
            <a:ext cx="1520142" cy="633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D8D36A1-2D1A-EE29-71C3-0045074D7597}"/>
              </a:ext>
            </a:extLst>
          </p:cNvPr>
          <p:cNvCxnSpPr/>
          <p:nvPr/>
        </p:nvCxnSpPr>
        <p:spPr>
          <a:xfrm>
            <a:off x="0" y="1370786"/>
            <a:ext cx="121920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A screenshot of a graph&#10;&#10;AI-generated content may be incorrect.">
            <a:extLst>
              <a:ext uri="{FF2B5EF4-FFF2-40B4-BE49-F238E27FC236}">
                <a16:creationId xmlns:a16="http://schemas.microsoft.com/office/drawing/2014/main" id="{7F0A0943-C7DC-888B-F269-4CB3CA353953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615" r="4519"/>
          <a:stretch>
            <a:fillRect/>
          </a:stretch>
        </p:blipFill>
        <p:spPr>
          <a:xfrm>
            <a:off x="78581" y="2093541"/>
            <a:ext cx="4564857" cy="4168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44588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CDB11D-57E5-7F2A-287A-DD051D9418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3D20E5-AA13-2A2A-3948-0260B6F0888B}"/>
              </a:ext>
            </a:extLst>
          </p:cNvPr>
          <p:cNvSpPr txBox="1"/>
          <p:nvPr/>
        </p:nvSpPr>
        <p:spPr>
          <a:xfrm>
            <a:off x="2677243" y="330298"/>
            <a:ext cx="683751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Limitations of the analysis</a:t>
            </a:r>
            <a:endParaRPr lang="en-US" sz="4800" dirty="0">
              <a:solidFill>
                <a:srgbClr val="26384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613491-9536-F828-1EBF-6848B337BFCA}"/>
              </a:ext>
            </a:extLst>
          </p:cNvPr>
          <p:cNvSpPr txBox="1"/>
          <p:nvPr/>
        </p:nvSpPr>
        <p:spPr>
          <a:xfrm>
            <a:off x="1168448" y="1730022"/>
            <a:ext cx="2686583" cy="1200329"/>
          </a:xfrm>
          <a:prstGeom prst="rect">
            <a:avLst/>
          </a:prstGeom>
          <a:solidFill>
            <a:srgbClr val="8BA1AE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1. One week, not a month: no trend, seasonality or billing-cycle claim is supported.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222095-88F9-1618-D561-1F6525A242A1}"/>
              </a:ext>
            </a:extLst>
          </p:cNvPr>
          <p:cNvSpPr txBox="1"/>
          <p:nvPr/>
        </p:nvSpPr>
        <p:spPr>
          <a:xfrm>
            <a:off x="4717477" y="1722328"/>
            <a:ext cx="2686583" cy="1208023"/>
          </a:xfrm>
          <a:prstGeom prst="rect">
            <a:avLst/>
          </a:prstGeom>
          <a:solidFill>
            <a:srgbClr val="8BA1AE"/>
          </a:solidFill>
        </p:spPr>
        <p:txBody>
          <a:bodyPr wrap="square" rtlCol="0" anchor="t">
            <a:spAutoFit/>
          </a:bodyPr>
          <a:lstStyle/>
          <a:p>
            <a:endParaRPr lang="en-US" sz="105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2. No revenue, cost, churn, margin, ARPU, survey or location data.</a:t>
            </a:r>
          </a:p>
          <a:p>
            <a:endParaRPr lang="en-US" sz="75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644682-FE81-FEB8-8907-7B7F9D531A90}"/>
              </a:ext>
            </a:extLst>
          </p:cNvPr>
          <p:cNvSpPr txBox="1"/>
          <p:nvPr/>
        </p:nvSpPr>
        <p:spPr>
          <a:xfrm>
            <a:off x="8266506" y="1730022"/>
            <a:ext cx="2686582" cy="1215717"/>
          </a:xfrm>
          <a:prstGeom prst="rect">
            <a:avLst/>
          </a:prstGeom>
          <a:solidFill>
            <a:srgbClr val="8BA1AE"/>
          </a:solidFill>
        </p:spPr>
        <p:txBody>
          <a:bodyPr wrap="square" rtlCol="0">
            <a:spAutoFit/>
          </a:bodyPr>
          <a:lstStyle/>
          <a:p>
            <a:endParaRPr lang="en-US" sz="1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3. TCP is imputed for 63.2% of customers and RTT for 17.4%.</a:t>
            </a:r>
          </a:p>
          <a:p>
            <a:endParaRPr lang="en-US" sz="7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C925E70-B234-0345-9D71-98D84637F136}"/>
              </a:ext>
            </a:extLst>
          </p:cNvPr>
          <p:cNvSpPr txBox="1"/>
          <p:nvPr/>
        </p:nvSpPr>
        <p:spPr>
          <a:xfrm>
            <a:off x="1168447" y="3306623"/>
            <a:ext cx="2686582" cy="1200329"/>
          </a:xfrm>
          <a:prstGeom prst="rect">
            <a:avLst/>
          </a:prstGeom>
          <a:solidFill>
            <a:srgbClr val="8BA1AE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4. Mean replacement changes 15.0% of customers who carry 29.9% of raw traffic.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404CE2A-1F12-BADA-15CD-0D168DB951D2}"/>
              </a:ext>
            </a:extLst>
          </p:cNvPr>
          <p:cNvSpPr txBox="1"/>
          <p:nvPr/>
        </p:nvSpPr>
        <p:spPr>
          <a:xfrm>
            <a:off x="4717477" y="3298691"/>
            <a:ext cx="2686582" cy="1200329"/>
          </a:xfrm>
          <a:prstGeom prst="rect">
            <a:avLst/>
          </a:prstGeom>
          <a:solidFill>
            <a:srgbClr val="8BA1AE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5. App counters sum to 185% of total volume; some have near-identical distributions.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8588D8-3CAE-5D7C-BA87-7CBA63B91ECA}"/>
              </a:ext>
            </a:extLst>
          </p:cNvPr>
          <p:cNvSpPr txBox="1"/>
          <p:nvPr/>
        </p:nvSpPr>
        <p:spPr>
          <a:xfrm>
            <a:off x="8266507" y="4773376"/>
            <a:ext cx="2686581" cy="1754326"/>
          </a:xfrm>
          <a:prstGeom prst="rect">
            <a:avLst/>
          </a:prstGeom>
          <a:solidFill>
            <a:srgbClr val="8BA1AE"/>
          </a:solidFill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9. Individual top-10 satisfaction lists are unstable: alternative weightings share only 7–9 of 10 names, so use segments, not names.</a:t>
            </a:r>
            <a:endParaRPr lang="en-US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EB0DFF-8ACC-7A5D-299C-0FBDE129C552}"/>
              </a:ext>
            </a:extLst>
          </p:cNvPr>
          <p:cNvSpPr txBox="1"/>
          <p:nvPr/>
        </p:nvSpPr>
        <p:spPr>
          <a:xfrm>
            <a:off x="8266506" y="3296637"/>
            <a:ext cx="2686582" cy="1200329"/>
          </a:xfrm>
          <a:prstGeom prst="rect">
            <a:avLst/>
          </a:prstGeom>
          <a:solidFill>
            <a:srgbClr val="8BA1AE"/>
          </a:solidFill>
        </p:spPr>
        <p:txBody>
          <a:bodyPr wrap="square" rtlCol="0">
            <a:spAutoFit/>
          </a:bodyPr>
          <a:lstStyle/>
          <a:p>
            <a:endParaRPr lang="en-US" sz="1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6. Duration is a bearer-open span with a large 24-hour mass (17.17%).</a:t>
            </a:r>
          </a:p>
          <a:p>
            <a:endParaRPr lang="en-US" sz="8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3454939-F870-D1F8-B490-9AEB41D2A42C}"/>
              </a:ext>
            </a:extLst>
          </p:cNvPr>
          <p:cNvSpPr txBox="1"/>
          <p:nvPr/>
        </p:nvSpPr>
        <p:spPr>
          <a:xfrm>
            <a:off x="1168447" y="4773376"/>
            <a:ext cx="2686581" cy="1754326"/>
          </a:xfrm>
          <a:prstGeom prst="rect">
            <a:avLst/>
          </a:prstGeom>
          <a:solidFill>
            <a:srgbClr val="8BA1AE"/>
          </a:solidFill>
        </p:spPr>
        <p:txBody>
          <a:bodyPr wrap="square" rtlCol="0">
            <a:spAutoFit/>
          </a:bodyPr>
          <a:lstStyle/>
          <a:p>
            <a:endParaRPr lang="en-US" sz="16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7. 6.00% of sessions have no usable handset; the router group is inferred from the model name.</a:t>
            </a:r>
            <a:endParaRPr lang="en-US" sz="9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A1B091C-61E5-54A8-A5DF-2B4964953B8E}"/>
              </a:ext>
            </a:extLst>
          </p:cNvPr>
          <p:cNvSpPr txBox="1"/>
          <p:nvPr/>
        </p:nvSpPr>
        <p:spPr>
          <a:xfrm>
            <a:off x="4717475" y="4773376"/>
            <a:ext cx="2686582" cy="1762021"/>
          </a:xfrm>
          <a:prstGeom prst="rect">
            <a:avLst/>
          </a:prstGeom>
          <a:solidFill>
            <a:srgbClr val="8BA1AE"/>
          </a:solidFill>
        </p:spPr>
        <p:txBody>
          <a:bodyPr wrap="square" rtlCol="0">
            <a:spAutoFit/>
          </a:bodyPr>
          <a:lstStyle/>
          <a:p>
            <a:endParaRPr lang="en-US" sz="8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8. Satisfaction is a constructed proxy; the regression recovers a formula, with scalers fitted on all customers.</a:t>
            </a:r>
          </a:p>
          <a:p>
            <a:endParaRPr lang="en-US" sz="105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2" name="Picture 2" descr="logo">
            <a:extLst>
              <a:ext uri="{FF2B5EF4-FFF2-40B4-BE49-F238E27FC236}">
                <a16:creationId xmlns:a16="http://schemas.microsoft.com/office/drawing/2014/main" id="{34F490D6-EC1B-DD4E-5932-96BD643040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71858" y="-10886"/>
            <a:ext cx="1520142" cy="633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26E7D23-D1A1-31EF-4E60-CCEDB9A321F4}"/>
              </a:ext>
            </a:extLst>
          </p:cNvPr>
          <p:cNvCxnSpPr/>
          <p:nvPr/>
        </p:nvCxnSpPr>
        <p:spPr>
          <a:xfrm>
            <a:off x="0" y="1370786"/>
            <a:ext cx="121920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39853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7F9764-C7E9-BDBA-2A64-BAF7F59737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40A1736-900B-D1F9-C9EC-FA34B6AC8402}"/>
              </a:ext>
            </a:extLst>
          </p:cNvPr>
          <p:cNvSpPr txBox="1"/>
          <p:nvPr/>
        </p:nvSpPr>
        <p:spPr>
          <a:xfrm>
            <a:off x="3911132" y="48178"/>
            <a:ext cx="452213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b="1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Recommendation: </a:t>
            </a:r>
          </a:p>
          <a:p>
            <a:pPr algn="ctr"/>
            <a:r>
              <a:rPr lang="en-US" sz="3600" b="1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continue due diligence</a:t>
            </a:r>
            <a:endParaRPr lang="en-US" sz="3600" dirty="0">
              <a:solidFill>
                <a:srgbClr val="26384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15577B-8CF2-4C44-0641-A3A018D46CB1}"/>
              </a:ext>
            </a:extLst>
          </p:cNvPr>
          <p:cNvSpPr txBox="1"/>
          <p:nvPr/>
        </p:nvSpPr>
        <p:spPr>
          <a:xfrm>
            <a:off x="331693" y="1493066"/>
            <a:ext cx="4913349" cy="3031599"/>
          </a:xfrm>
          <a:prstGeom prst="rect">
            <a:avLst/>
          </a:prstGeom>
          <a:solidFill>
            <a:srgbClr val="8BA1AE"/>
          </a:solidFill>
        </p:spPr>
        <p:txBody>
          <a:bodyPr wrap="square" rtlCol="0">
            <a:spAutoFit/>
          </a:bodyPr>
          <a:lstStyle/>
          <a:p>
            <a:r>
              <a:rPr lang="en-US" sz="2900" b="1" dirty="0">
                <a:solidFill>
                  <a:srgbClr val="7C241E"/>
                </a:solidFill>
                <a:latin typeface="Calibri" panose="020F0502020204030204" pitchFamily="34" charset="0"/>
                <a:ea typeface="Cambria" pitchFamily="34" charset="-122"/>
                <a:cs typeface="Calibri" panose="020F0502020204030204" pitchFamily="34" charset="0"/>
              </a:rPr>
              <a:t>What the data show</a:t>
            </a:r>
          </a:p>
          <a:p>
            <a:endParaRPr lang="en-US" sz="2400" b="1" dirty="0">
              <a:solidFill>
                <a:srgbClr val="7C241E"/>
              </a:solidFill>
              <a:latin typeface="Calibri" panose="020F0502020204030204" pitchFamily="34" charset="0"/>
              <a:ea typeface="Cambria" pitchFamily="34" charset="-122"/>
              <a:cs typeface="Calibri" panose="020F0502020204030204" pitchFamily="34" charset="0"/>
            </a:endParaRPr>
          </a:p>
          <a:p>
            <a:r>
              <a:rPr lang="en-US" sz="23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106,856 customers. A High engagement group of 22.8% carries about 37% of traffic. One robust network contrast: Good throughput (34.6%) against Low throughput (40.4%).</a:t>
            </a:r>
          </a:p>
          <a:p>
            <a:endParaRPr lang="en-US" sz="23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8691BFD-6641-3D6B-4C30-7829F61A6B34}"/>
              </a:ext>
            </a:extLst>
          </p:cNvPr>
          <p:cNvSpPr txBox="1"/>
          <p:nvPr/>
        </p:nvSpPr>
        <p:spPr>
          <a:xfrm>
            <a:off x="331693" y="4416943"/>
            <a:ext cx="4913348" cy="2323713"/>
          </a:xfrm>
          <a:prstGeom prst="rect">
            <a:avLst/>
          </a:prstGeom>
          <a:solidFill>
            <a:srgbClr val="8BA1AE"/>
          </a:solidFill>
        </p:spPr>
        <p:txBody>
          <a:bodyPr wrap="square" rtlCol="0">
            <a:spAutoFit/>
          </a:bodyPr>
          <a:lstStyle/>
          <a:p>
            <a:r>
              <a:rPr lang="en-US" sz="2900" b="1" dirty="0">
                <a:solidFill>
                  <a:srgbClr val="7C241E"/>
                </a:solidFill>
                <a:latin typeface="Calibri" panose="020F0502020204030204" pitchFamily="34" charset="0"/>
                <a:ea typeface="Cambria" pitchFamily="34" charset="-122"/>
                <a:cs typeface="Calibri" panose="020F0502020204030204" pitchFamily="34" charset="0"/>
              </a:rPr>
              <a:t>What it cannot show</a:t>
            </a:r>
          </a:p>
          <a:p>
            <a:endParaRPr lang="en-US" sz="2400" b="1" dirty="0">
              <a:solidFill>
                <a:srgbClr val="7C241E"/>
              </a:solidFill>
              <a:latin typeface="Calibri" panose="020F0502020204030204" pitchFamily="34" charset="0"/>
              <a:ea typeface="Cambria" pitchFamily="34" charset="-122"/>
              <a:cs typeface="Calibri" panose="020F0502020204030204" pitchFamily="34" charset="0"/>
            </a:endParaRPr>
          </a:p>
          <a:p>
            <a:r>
              <a:rPr lang="en-US" sz="23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Whether </a:t>
            </a:r>
            <a:r>
              <a:rPr lang="en-US" sz="23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TellCo</a:t>
            </a:r>
            <a:r>
              <a:rPr lang="en-US" sz="23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is profitable, growing or at risk of churn, and what causes the low-throughput pattern.</a:t>
            </a:r>
          </a:p>
          <a:p>
            <a:endParaRPr lang="en-US" sz="23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4D7D64-125E-AA5C-77B4-64BE079C59DB}"/>
              </a:ext>
            </a:extLst>
          </p:cNvPr>
          <p:cNvSpPr txBox="1"/>
          <p:nvPr/>
        </p:nvSpPr>
        <p:spPr>
          <a:xfrm>
            <a:off x="5378825" y="1493066"/>
            <a:ext cx="6481482" cy="5247590"/>
          </a:xfrm>
          <a:prstGeom prst="rect">
            <a:avLst/>
          </a:prstGeom>
          <a:solidFill>
            <a:srgbClr val="8BA1AE"/>
          </a:solidFill>
        </p:spPr>
        <p:txBody>
          <a:bodyPr wrap="square" rtlCol="0">
            <a:spAutoFit/>
          </a:bodyPr>
          <a:lstStyle/>
          <a:p>
            <a:r>
              <a:rPr lang="en-US" sz="2900" b="1" dirty="0">
                <a:solidFill>
                  <a:srgbClr val="7C241E"/>
                </a:solidFill>
                <a:latin typeface="Calibri" panose="020F0502020204030204" pitchFamily="34" charset="0"/>
                <a:ea typeface="Cambria" pitchFamily="34" charset="-122"/>
                <a:cs typeface="Calibri" panose="020F0502020204030204" pitchFamily="34" charset="0"/>
              </a:rPr>
              <a:t>Required before a buy or pass decision</a:t>
            </a:r>
          </a:p>
          <a:p>
            <a:endParaRPr lang="en-US" b="1" dirty="0">
              <a:solidFill>
                <a:schemeClr val="accent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23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Revenue, ARPU, cost, margin, churn and customer lifetime value.</a:t>
            </a:r>
            <a:endParaRPr lang="en-US" sz="23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23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 longer, evenly sampled window, plus the rule that produced this extract.</a:t>
            </a:r>
            <a:endParaRPr lang="en-US" sz="23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23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Outcome data (survey, NPS, complaints, churn) to test the proxy.</a:t>
            </a:r>
            <a:endParaRPr lang="en-US" sz="23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23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Cell-level, location, plan and device data, and why RTT and TCP are missing.</a:t>
            </a:r>
            <a:endParaRPr lang="en-US" sz="23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23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Definitions of the Gaming and Other counters, Total DL and UL, and the handset gap.</a:t>
            </a:r>
            <a:endParaRPr lang="en-US" sz="23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23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Untreated segmentation, and every experience result split by router and phone.</a:t>
            </a:r>
            <a:endParaRPr lang="en-US" sz="23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Picture 2" descr="logo">
            <a:extLst>
              <a:ext uri="{FF2B5EF4-FFF2-40B4-BE49-F238E27FC236}">
                <a16:creationId xmlns:a16="http://schemas.microsoft.com/office/drawing/2014/main" id="{2E44D602-F707-BC32-82B8-77C4D38D94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71858" y="-10886"/>
            <a:ext cx="1520142" cy="633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1A3F226-C075-050F-0E61-8F8FE5B9FBDD}"/>
              </a:ext>
            </a:extLst>
          </p:cNvPr>
          <p:cNvCxnSpPr/>
          <p:nvPr/>
        </p:nvCxnSpPr>
        <p:spPr>
          <a:xfrm>
            <a:off x="0" y="1370786"/>
            <a:ext cx="121920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01421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EB06C18-0A57-46BC-2D71-6E1AE789934E}"/>
              </a:ext>
            </a:extLst>
          </p:cNvPr>
          <p:cNvSpPr txBox="1"/>
          <p:nvPr/>
        </p:nvSpPr>
        <p:spPr>
          <a:xfrm>
            <a:off x="4428652" y="292690"/>
            <a:ext cx="333469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b="1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References</a:t>
            </a:r>
            <a:endParaRPr lang="en-US" sz="5400" dirty="0">
              <a:solidFill>
                <a:srgbClr val="26384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CC6E5C-2FAA-4687-7193-58640AC859A8}"/>
              </a:ext>
            </a:extLst>
          </p:cNvPr>
          <p:cNvSpPr txBox="1"/>
          <p:nvPr/>
        </p:nvSpPr>
        <p:spPr>
          <a:xfrm>
            <a:off x="489857" y="1964300"/>
            <a:ext cx="11212283" cy="4406334"/>
          </a:xfrm>
          <a:prstGeom prst="rect">
            <a:avLst/>
          </a:prstGeom>
          <a:solidFill>
            <a:srgbClr val="8BA1AE"/>
          </a:solidFill>
        </p:spPr>
        <p:txBody>
          <a:bodyPr wrap="square" rtlCol="0">
            <a:spAutoFit/>
          </a:bodyPr>
          <a:lstStyle/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7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NextHikes</a:t>
            </a:r>
            <a:r>
              <a:rPr lang="en-US" sz="1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IT Solutions (2026). User Analytics in the Telecommunication Industry: problem statement and field descriptions.</a:t>
            </a:r>
          </a:p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7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TellCo</a:t>
            </a:r>
            <a:r>
              <a:rPr lang="en-US" sz="1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7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xDR</a:t>
            </a:r>
            <a:r>
              <a:rPr lang="en-US" sz="1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dataset, </a:t>
            </a:r>
            <a:r>
              <a:rPr lang="en-US" sz="17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telcom_data</a:t>
            </a:r>
            <a:r>
              <a:rPr lang="en-US" sz="1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(2).xlsx: 150,001 sessions, 24–30 April 2019 session end dates.</a:t>
            </a:r>
          </a:p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IN" sz="1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Code and dashboard: </a:t>
            </a:r>
            <a:r>
              <a:rPr lang="en-IN" sz="1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  <a:hlinkClick r:id="rId2"/>
              </a:rPr>
              <a:t>https://github.com/</a:t>
            </a:r>
            <a:r>
              <a:rPr lang="en-IN" sz="17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srishkyra</a:t>
            </a:r>
            <a:r>
              <a:rPr lang="en-IN" sz="1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/NEXTHIKES-IT-SOLUTIONS-</a:t>
            </a:r>
            <a:r>
              <a:rPr lang="en-IN" sz="17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Pvt.</a:t>
            </a:r>
            <a:r>
              <a:rPr lang="en-IN" sz="1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-Ltd.---PROJECT-5</a:t>
            </a:r>
          </a:p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Pedregosa, F. et al. (2011). Scikit-learn: Machine Learning in Python. Journal of Machine Learning Research, 12, 2825–2830.</a:t>
            </a:r>
          </a:p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McKinney, W. (2010). Data Structures for Statistical Computing in Python. Proc. 9th Python in Science Conference.</a:t>
            </a:r>
          </a:p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Virtanen, P. et al. (2020). SciPy 1.0: fundamental algorithms for scientific computing in Python. Nature Methods, 17, 261–272.</a:t>
            </a:r>
          </a:p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Seabold, S. and </a:t>
            </a:r>
            <a:r>
              <a:rPr lang="en-US" sz="17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Perktold</a:t>
            </a:r>
            <a:r>
              <a:rPr lang="en-US" sz="1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J. (2010). </a:t>
            </a:r>
            <a:r>
              <a:rPr lang="en-US" sz="17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Statsmodels</a:t>
            </a:r>
            <a:r>
              <a:rPr lang="en-US" sz="1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econometric and statistical modeling with Python. Proc. 9th Python in Science Conference.</a:t>
            </a:r>
          </a:p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Lundberg, S. and Lee, S.-I. (2017). A Unified Approach to Interpreting Model Predictions. </a:t>
            </a:r>
            <a:r>
              <a:rPr lang="en-US" sz="17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NeurIPS</a:t>
            </a:r>
            <a:r>
              <a:rPr lang="en-US" sz="1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30.</a:t>
            </a:r>
          </a:p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Friedman, J. H. (2001). Greedy function approximation: a gradient boosting machine. Annals of Statistics, 29(5), 1189–1232.</a:t>
            </a:r>
          </a:p>
        </p:txBody>
      </p:sp>
      <p:pic>
        <p:nvPicPr>
          <p:cNvPr id="2" name="Picture 2" descr="logo">
            <a:extLst>
              <a:ext uri="{FF2B5EF4-FFF2-40B4-BE49-F238E27FC236}">
                <a16:creationId xmlns:a16="http://schemas.microsoft.com/office/drawing/2014/main" id="{F981625D-BF73-23D6-346B-3782AC1B58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71858" y="-10886"/>
            <a:ext cx="1520142" cy="633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EA857B0-B253-8615-21F3-BC766A1E126D}"/>
              </a:ext>
            </a:extLst>
          </p:cNvPr>
          <p:cNvCxnSpPr/>
          <p:nvPr/>
        </p:nvCxnSpPr>
        <p:spPr>
          <a:xfrm>
            <a:off x="0" y="1370786"/>
            <a:ext cx="121920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54695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AB115C-6031-3BD5-FE19-CF05ED6501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24B8739-3DA8-5BED-5254-0D112E5DBC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437244"/>
            <a:ext cx="5975268" cy="398351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B233BB5-9315-5648-BD15-1735FC5C657F}"/>
              </a:ext>
            </a:extLst>
          </p:cNvPr>
          <p:cNvSpPr txBox="1"/>
          <p:nvPr/>
        </p:nvSpPr>
        <p:spPr>
          <a:xfrm>
            <a:off x="1081368" y="1905506"/>
            <a:ext cx="371475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Thank</a:t>
            </a:r>
          </a:p>
          <a:p>
            <a:pPr algn="ctr"/>
            <a:r>
              <a:rPr lang="en-US" sz="9600" dirty="0">
                <a:solidFill>
                  <a:srgbClr val="2638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You !</a:t>
            </a:r>
          </a:p>
        </p:txBody>
      </p:sp>
      <p:pic>
        <p:nvPicPr>
          <p:cNvPr id="4" name="Picture 2" descr="logo">
            <a:extLst>
              <a:ext uri="{FF2B5EF4-FFF2-40B4-BE49-F238E27FC236}">
                <a16:creationId xmlns:a16="http://schemas.microsoft.com/office/drawing/2014/main" id="{FA02AAE5-3A65-4453-2599-333F295A8E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71858" y="-10886"/>
            <a:ext cx="1520142" cy="633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073255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780</TotalTime>
  <Words>2369</Words>
  <Application>Microsoft Macintosh PowerPoint</Application>
  <PresentationFormat>Widescreen</PresentationFormat>
  <Paragraphs>370</Paragraphs>
  <Slides>21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srishtisharma3006@outlook.com</dc:creator>
  <cp:lastModifiedBy>srishtisharma3006@outlook.com</cp:lastModifiedBy>
  <cp:revision>19</cp:revision>
  <dcterms:created xsi:type="dcterms:W3CDTF">2026-10-05T19:51:02Z</dcterms:created>
  <dcterms:modified xsi:type="dcterms:W3CDTF">2026-10-08T10:05:59Z</dcterms:modified>
</cp:coreProperties>
</file>